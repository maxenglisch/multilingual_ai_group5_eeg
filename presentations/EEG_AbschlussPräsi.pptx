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63" r:id="rId4"/>
    <p:sldId id="264" r:id="rId5"/>
    <p:sldId id="266" r:id="rId6"/>
    <p:sldId id="283" r:id="rId7"/>
    <p:sldId id="257" r:id="rId8"/>
    <p:sldId id="258" r:id="rId9"/>
    <p:sldId id="262" r:id="rId10"/>
    <p:sldId id="278" r:id="rId11"/>
    <p:sldId id="282" r:id="rId12"/>
    <p:sldId id="284" r:id="rId13"/>
    <p:sldId id="260" r:id="rId14"/>
    <p:sldId id="269" r:id="rId15"/>
    <p:sldId id="273" r:id="rId16"/>
    <p:sldId id="270" r:id="rId17"/>
    <p:sldId id="271" r:id="rId18"/>
    <p:sldId id="274" r:id="rId19"/>
    <p:sldId id="275" r:id="rId20"/>
    <p:sldId id="261" r:id="rId21"/>
    <p:sldId id="276" r:id="rId22"/>
    <p:sldId id="277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AEF7"/>
    <a:srgbClr val="011844"/>
    <a:srgbClr val="3AB4E2"/>
    <a:srgbClr val="002C5E"/>
    <a:srgbClr val="012963"/>
    <a:srgbClr val="0CB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0" dt="2026-09-29T17:51:42.386"/>
    <p1510:client id="{45EA6101-9079-26F2-FC92-3F57122B3C77}" v="461" dt="2026-09-30T10:29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879BD-0ED2-4231-971A-A7F9A7880CF3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29CB6F7-ED94-4758-9ACC-50A4518C6F60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Overview</a:t>
          </a:r>
          <a:endParaRPr lang="de-DE"/>
        </a:p>
      </dgm:t>
    </dgm:pt>
    <dgm:pt modelId="{58742143-C185-4471-AD75-12A9BFC8420E}" type="parTrans" cxnId="{687AAFA3-9554-434B-AF61-5F27BCFBC14A}">
      <dgm:prSet/>
      <dgm:spPr/>
      <dgm:t>
        <a:bodyPr/>
        <a:lstStyle/>
        <a:p>
          <a:endParaRPr lang="de-DE"/>
        </a:p>
      </dgm:t>
    </dgm:pt>
    <dgm:pt modelId="{690CD3E0-2B5C-465A-A7DC-CE1FD416E957}" type="sibTrans" cxnId="{687AAFA3-9554-434B-AF61-5F27BCFBC14A}">
      <dgm:prSet/>
      <dgm:spPr/>
      <dgm:t>
        <a:bodyPr/>
        <a:lstStyle/>
        <a:p>
          <a:endParaRPr lang="de-DE"/>
        </a:p>
      </dgm:t>
    </dgm:pt>
    <dgm:pt modelId="{283F5C03-9822-4FE2-92B3-A411A040F4EB}">
      <dgm:prSet phldrT="[Text]" phldr="0"/>
      <dgm:spPr/>
      <dgm:t>
        <a:bodyPr/>
        <a:lstStyle/>
        <a:p>
          <a:pPr rtl="0"/>
          <a:r>
            <a:rPr lang="de-DE"/>
            <a:t>Kabelloses </a:t>
          </a:r>
          <a:r>
            <a:rPr lang="de-DE">
              <a:latin typeface="Aptos Display" panose="020F0302020204030204"/>
            </a:rPr>
            <a:t>EEG System</a:t>
          </a:r>
          <a:r>
            <a:rPr lang="de-DE"/>
            <a:t> zur Messung der elektrischen Gehirnaktivität</a:t>
          </a:r>
        </a:p>
      </dgm:t>
    </dgm:pt>
    <dgm:pt modelId="{FA4E0B6A-F1CF-4212-A475-89D70BA19297}" type="parTrans" cxnId="{8647687A-DC4A-4B38-BD41-B7578FAF9D9E}">
      <dgm:prSet/>
      <dgm:spPr/>
      <dgm:t>
        <a:bodyPr/>
        <a:lstStyle/>
        <a:p>
          <a:endParaRPr lang="de-DE"/>
        </a:p>
      </dgm:t>
    </dgm:pt>
    <dgm:pt modelId="{C1FBDFCE-FDC7-4DBD-9950-40EF05B874F4}" type="sibTrans" cxnId="{8647687A-DC4A-4B38-BD41-B7578FAF9D9E}">
      <dgm:prSet/>
      <dgm:spPr/>
      <dgm:t>
        <a:bodyPr/>
        <a:lstStyle/>
        <a:p>
          <a:endParaRPr lang="de-DE"/>
        </a:p>
      </dgm:t>
    </dgm:pt>
    <dgm:pt modelId="{52AE09C9-D353-4828-AC77-8CA8500AB00D}">
      <dgm:prSet phldrT="[Text]" phldr="0"/>
      <dgm:spPr/>
      <dgm:t>
        <a:bodyPr/>
        <a:lstStyle/>
        <a:p>
          <a:pPr algn="l"/>
          <a:r>
            <a:rPr lang="de-DE" b="0"/>
            <a:t>Verwendet Sensoren mit Kochsalzlösung</a:t>
          </a:r>
        </a:p>
      </dgm:t>
    </dgm:pt>
    <dgm:pt modelId="{04B07E30-CD9A-43E8-BC7C-6840BD9EDDEB}" type="parTrans" cxnId="{B1621531-0AAD-4239-820E-8D4C84F6E0FD}">
      <dgm:prSet/>
      <dgm:spPr/>
      <dgm:t>
        <a:bodyPr/>
        <a:lstStyle/>
        <a:p>
          <a:endParaRPr lang="de-DE"/>
        </a:p>
      </dgm:t>
    </dgm:pt>
    <dgm:pt modelId="{2C4D2EB5-8EA1-436E-A21D-36E97C3C67D5}" type="sibTrans" cxnId="{B1621531-0AAD-4239-820E-8D4C84F6E0FD}">
      <dgm:prSet/>
      <dgm:spPr/>
      <dgm:t>
        <a:bodyPr/>
        <a:lstStyle/>
        <a:p>
          <a:endParaRPr lang="de-DE"/>
        </a:p>
      </dgm:t>
    </dgm:pt>
    <dgm:pt modelId="{581FEE0B-9327-4093-A618-F66DD1BF96D8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Bluetooth Verbindung</a:t>
          </a:r>
          <a:endParaRPr lang="de-DE"/>
        </a:p>
      </dgm:t>
    </dgm:pt>
    <dgm:pt modelId="{9FEA4751-4916-4149-BE77-9805DB4C9269}" type="parTrans" cxnId="{E541C13C-532B-4DF7-8E31-B789B79A8AE0}">
      <dgm:prSet/>
      <dgm:spPr/>
      <dgm:t>
        <a:bodyPr/>
        <a:lstStyle/>
        <a:p>
          <a:endParaRPr lang="de-DE"/>
        </a:p>
      </dgm:t>
    </dgm:pt>
    <dgm:pt modelId="{3EC78902-9031-4309-BEBA-9EA1AF75F3FB}" type="sibTrans" cxnId="{E541C13C-532B-4DF7-8E31-B789B79A8AE0}">
      <dgm:prSet/>
      <dgm:spPr/>
      <dgm:t>
        <a:bodyPr/>
        <a:lstStyle/>
        <a:p>
          <a:endParaRPr lang="de-DE"/>
        </a:p>
      </dgm:t>
    </dgm:pt>
    <dgm:pt modelId="{D595C949-D7F5-4A58-9573-7153DBEB44AC}">
      <dgm:prSet phldrT="[Text]" phldr="0"/>
      <dgm:spPr/>
      <dgm:t>
        <a:bodyPr/>
        <a:lstStyle/>
        <a:p>
          <a:r>
            <a:rPr lang="de-DE">
              <a:latin typeface="Aptos Display" panose="020F0302020204030204"/>
            </a:rPr>
            <a:t>Features</a:t>
          </a:r>
          <a:endParaRPr lang="de-DE"/>
        </a:p>
      </dgm:t>
    </dgm:pt>
    <dgm:pt modelId="{D7839520-7C86-47F4-8BC7-05820D0B58DD}" type="parTrans" cxnId="{9A7E9428-C72F-402E-B1EE-7DBB51A68253}">
      <dgm:prSet/>
      <dgm:spPr/>
      <dgm:t>
        <a:bodyPr/>
        <a:lstStyle/>
        <a:p>
          <a:endParaRPr lang="de-DE"/>
        </a:p>
      </dgm:t>
    </dgm:pt>
    <dgm:pt modelId="{CB683706-CE5F-49E7-82F3-0D79927019B2}" type="sibTrans" cxnId="{9A7E9428-C72F-402E-B1EE-7DBB51A68253}">
      <dgm:prSet/>
      <dgm:spPr/>
      <dgm:t>
        <a:bodyPr/>
        <a:lstStyle/>
        <a:p>
          <a:endParaRPr lang="de-DE"/>
        </a:p>
      </dgm:t>
    </dgm:pt>
    <dgm:pt modelId="{82A7B6D8-6A1A-4642-A320-DBDD5BEF2C6E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 32 EEG Sensoren</a:t>
          </a:r>
          <a:r>
            <a:rPr lang="de-DE"/>
            <a:t> aus Silberchlorid</a:t>
          </a:r>
        </a:p>
      </dgm:t>
    </dgm:pt>
    <dgm:pt modelId="{28780D35-9BF2-4122-B675-53F27A6F26C7}" type="parTrans" cxnId="{A09F53DE-BB6D-4D46-9AFE-1F3928FF659F}">
      <dgm:prSet/>
      <dgm:spPr/>
      <dgm:t>
        <a:bodyPr/>
        <a:lstStyle/>
        <a:p>
          <a:endParaRPr lang="de-DE"/>
        </a:p>
      </dgm:t>
    </dgm:pt>
    <dgm:pt modelId="{851A3D44-BB00-4A2E-9C23-09805A2DE8EE}" type="sibTrans" cxnId="{A09F53DE-BB6D-4D46-9AFE-1F3928FF659F}">
      <dgm:prSet/>
      <dgm:spPr/>
      <dgm:t>
        <a:bodyPr/>
        <a:lstStyle/>
        <a:p>
          <a:endParaRPr lang="de-DE"/>
        </a:p>
      </dgm:t>
    </dgm:pt>
    <dgm:pt modelId="{625CE667-1186-4B8A-9C24-64BA7FFC6A36}">
      <dgm:prSet phldrT="[Text]" phldr="0"/>
      <dgm:spPr/>
      <dgm:t>
        <a:bodyPr/>
        <a:lstStyle/>
        <a:p>
          <a:r>
            <a:rPr lang="de-DE"/>
            <a:t>Akkulaufzeit von bis zu 6 Stunden</a:t>
          </a:r>
        </a:p>
      </dgm:t>
    </dgm:pt>
    <dgm:pt modelId="{FA31FF53-670C-4586-925A-CA7ECA008790}" type="parTrans" cxnId="{221FBF53-998A-447B-A56D-957AC3144DA9}">
      <dgm:prSet/>
      <dgm:spPr/>
    </dgm:pt>
    <dgm:pt modelId="{C89D6116-A2AC-415F-BBDF-BB1AD7FDBAB0}" type="sibTrans" cxnId="{221FBF53-998A-447B-A56D-957AC3144DA9}">
      <dgm:prSet/>
      <dgm:spPr/>
    </dgm:pt>
    <dgm:pt modelId="{9F056955-CC0D-43EF-9810-58DA77685516}">
      <dgm:prSet phldrT="[Text]" phldr="0"/>
      <dgm:spPr/>
      <dgm:t>
        <a:bodyPr/>
        <a:lstStyle/>
        <a:p>
          <a:r>
            <a:rPr lang="de-DE"/>
            <a:t>Flexible Platzierung der Sensoren auf der Kopfhaut</a:t>
          </a:r>
        </a:p>
      </dgm:t>
    </dgm:pt>
    <dgm:pt modelId="{A28094F7-5C84-4D04-B2B6-39EC49C6CC39}" type="parTrans" cxnId="{15677355-A225-428F-9A5F-4483EF3D852B}">
      <dgm:prSet/>
      <dgm:spPr/>
    </dgm:pt>
    <dgm:pt modelId="{59C78932-F749-47F1-9EB4-04418936F16F}" type="sibTrans" cxnId="{15677355-A225-428F-9A5F-4483EF3D852B}">
      <dgm:prSet/>
      <dgm:spPr/>
    </dgm:pt>
    <dgm:pt modelId="{2BB5FA5D-E7D5-4786-B86C-5F1ACE4361FE}">
      <dgm:prSet phldrT="[Text]" phldr="0"/>
      <dgm:spPr/>
      <dgm:t>
        <a:bodyPr/>
        <a:lstStyle/>
        <a:p>
          <a:r>
            <a:rPr lang="de-DE"/>
            <a:t>Flexibel anpassbare Kappengröße</a:t>
          </a:r>
          <a:endParaRPr lang="de-DE">
            <a:latin typeface="Aptos Display" panose="020F0302020204030204"/>
          </a:endParaRPr>
        </a:p>
      </dgm:t>
    </dgm:pt>
    <dgm:pt modelId="{8BE34117-09C1-4501-AE73-1CF3894FB93F}" type="parTrans" cxnId="{B0F2AEA7-3334-4918-B730-9926DBD0B69A}">
      <dgm:prSet/>
      <dgm:spPr/>
    </dgm:pt>
    <dgm:pt modelId="{DEE9E289-AB49-4273-BCDB-73A4C2A8C081}" type="sibTrans" cxnId="{B0F2AEA7-3334-4918-B730-9926DBD0B69A}">
      <dgm:prSet/>
      <dgm:spPr/>
    </dgm:pt>
    <dgm:pt modelId="{B770AABD-A4F5-4331-840E-2DF4DB532214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Limitations</a:t>
          </a:r>
        </a:p>
      </dgm:t>
    </dgm:pt>
    <dgm:pt modelId="{C10234B7-1459-46DC-B54C-7A3A9A6C5369}" type="parTrans" cxnId="{49B64ED4-0252-4294-9847-735642C86E6B}">
      <dgm:prSet/>
      <dgm:spPr/>
    </dgm:pt>
    <dgm:pt modelId="{40D0F028-F01F-4635-BC62-33261F770676}" type="sibTrans" cxnId="{49B64ED4-0252-4294-9847-735642C86E6B}">
      <dgm:prSet/>
      <dgm:spPr/>
    </dgm:pt>
    <dgm:pt modelId="{4286C479-2674-471A-95F4-D5D565D1D9E5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 </a:t>
          </a:r>
          <a:r>
            <a:rPr lang="de-DE"/>
            <a:t>korrekte Platzierung der Sensoren ist wichtig</a:t>
          </a:r>
        </a:p>
      </dgm:t>
    </dgm:pt>
    <dgm:pt modelId="{5C8EBD18-D841-43EA-AACC-3C20AC7A828C}" type="parTrans" cxnId="{29EFCA77-300C-4CB0-BF41-B8976961A4EA}">
      <dgm:prSet/>
      <dgm:spPr/>
    </dgm:pt>
    <dgm:pt modelId="{2FC31EA4-38AB-4675-A248-B42EB8827A3E}" type="sibTrans" cxnId="{29EFCA77-300C-4CB0-BF41-B8976961A4EA}">
      <dgm:prSet/>
      <dgm:spPr/>
    </dgm:pt>
    <dgm:pt modelId="{1BB1400E-2447-4DDA-BFC2-27452F96F758}">
      <dgm:prSet phldrT="[Text]" phldr="0"/>
      <dgm:spPr/>
      <dgm:t>
        <a:bodyPr/>
        <a:lstStyle/>
        <a:p>
          <a:r>
            <a:rPr lang="de-DE">
              <a:latin typeface="Aptos Display" panose="020F0302020204030204"/>
            </a:rPr>
            <a:t> </a:t>
          </a:r>
          <a:r>
            <a:rPr lang="de-DE"/>
            <a:t>Kochsalzlösung kann mit der Zeit austrocknen und dadurch die Signalqualität beeinträchtigen</a:t>
          </a:r>
        </a:p>
      </dgm:t>
    </dgm:pt>
    <dgm:pt modelId="{44079804-BEEA-48F4-B9C0-6B89B51B4375}" type="parTrans" cxnId="{AB3C2A4B-7F5F-47A0-A946-15E79B078150}">
      <dgm:prSet/>
      <dgm:spPr/>
    </dgm:pt>
    <dgm:pt modelId="{5A2E1457-8EC9-4CF5-8CA5-0D0C9CE3A71C}" type="sibTrans" cxnId="{AB3C2A4B-7F5F-47A0-A946-15E79B078150}">
      <dgm:prSet/>
      <dgm:spPr/>
    </dgm:pt>
    <dgm:pt modelId="{2D666140-4BE6-47E8-AA3F-33CEE8E0A41D}" type="pres">
      <dgm:prSet presAssocID="{0CE879BD-0ED2-4231-971A-A7F9A7880CF3}" presName="Name0" presStyleCnt="0">
        <dgm:presLayoutVars>
          <dgm:dir/>
          <dgm:animLvl val="lvl"/>
          <dgm:resizeHandles val="exact"/>
        </dgm:presLayoutVars>
      </dgm:prSet>
      <dgm:spPr/>
    </dgm:pt>
    <dgm:pt modelId="{21C44D76-FDAC-4391-B5B5-DAC0CEA4F762}" type="pres">
      <dgm:prSet presAssocID="{429CB6F7-ED94-4758-9ACC-50A4518C6F60}" presName="compositeNode" presStyleCnt="0">
        <dgm:presLayoutVars>
          <dgm:bulletEnabled val="1"/>
        </dgm:presLayoutVars>
      </dgm:prSet>
      <dgm:spPr/>
    </dgm:pt>
    <dgm:pt modelId="{2D57278F-3572-4D40-ACBE-28DA838E2429}" type="pres">
      <dgm:prSet presAssocID="{429CB6F7-ED94-4758-9ACC-50A4518C6F60}" presName="bgRect" presStyleLbl="node1" presStyleIdx="0" presStyleCnt="3"/>
      <dgm:spPr/>
    </dgm:pt>
    <dgm:pt modelId="{2D46FBB3-975A-422B-9910-9D3886D79589}" type="pres">
      <dgm:prSet presAssocID="{429CB6F7-ED94-4758-9ACC-50A4518C6F60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954E688D-83BA-4E89-AD64-968027AB0342}" type="pres">
      <dgm:prSet presAssocID="{429CB6F7-ED94-4758-9ACC-50A4518C6F60}" presName="childNode" presStyleLbl="node1" presStyleIdx="0" presStyleCnt="3">
        <dgm:presLayoutVars>
          <dgm:bulletEnabled val="1"/>
        </dgm:presLayoutVars>
      </dgm:prSet>
      <dgm:spPr/>
    </dgm:pt>
    <dgm:pt modelId="{4941FD9C-675F-4510-9443-70CAEA4C3C0B}" type="pres">
      <dgm:prSet presAssocID="{690CD3E0-2B5C-465A-A7DC-CE1FD416E957}" presName="hSp" presStyleCnt="0"/>
      <dgm:spPr/>
    </dgm:pt>
    <dgm:pt modelId="{214DB9D7-2775-493A-BA4D-B231F5D5843B}" type="pres">
      <dgm:prSet presAssocID="{690CD3E0-2B5C-465A-A7DC-CE1FD416E957}" presName="vProcSp" presStyleCnt="0"/>
      <dgm:spPr/>
    </dgm:pt>
    <dgm:pt modelId="{A97EFA23-7949-4506-A89B-A0160627F19E}" type="pres">
      <dgm:prSet presAssocID="{690CD3E0-2B5C-465A-A7DC-CE1FD416E957}" presName="vSp1" presStyleCnt="0"/>
      <dgm:spPr/>
    </dgm:pt>
    <dgm:pt modelId="{D728E029-964B-4A9C-B53A-C4386E7DF3D1}" type="pres">
      <dgm:prSet presAssocID="{690CD3E0-2B5C-465A-A7DC-CE1FD416E957}" presName="simulatedConn" presStyleLbl="solidFgAcc1" presStyleIdx="0" presStyleCnt="2"/>
      <dgm:spPr/>
    </dgm:pt>
    <dgm:pt modelId="{994BE9CD-C579-4A11-AB96-40CBF85AB02B}" type="pres">
      <dgm:prSet presAssocID="{690CD3E0-2B5C-465A-A7DC-CE1FD416E957}" presName="vSp2" presStyleCnt="0"/>
      <dgm:spPr/>
    </dgm:pt>
    <dgm:pt modelId="{E5DE9D4A-0612-4D73-94DC-20AA86B00627}" type="pres">
      <dgm:prSet presAssocID="{690CD3E0-2B5C-465A-A7DC-CE1FD416E957}" presName="sibTrans" presStyleCnt="0"/>
      <dgm:spPr/>
    </dgm:pt>
    <dgm:pt modelId="{3D97FCA4-714F-4D44-8016-93514C56C917}" type="pres">
      <dgm:prSet presAssocID="{D595C949-D7F5-4A58-9573-7153DBEB44AC}" presName="compositeNode" presStyleCnt="0">
        <dgm:presLayoutVars>
          <dgm:bulletEnabled val="1"/>
        </dgm:presLayoutVars>
      </dgm:prSet>
      <dgm:spPr/>
    </dgm:pt>
    <dgm:pt modelId="{C52312C2-2FD5-4FBF-9071-78485320A2C2}" type="pres">
      <dgm:prSet presAssocID="{D595C949-D7F5-4A58-9573-7153DBEB44AC}" presName="bgRect" presStyleLbl="node1" presStyleIdx="1" presStyleCnt="3"/>
      <dgm:spPr/>
    </dgm:pt>
    <dgm:pt modelId="{30FBFEFF-B6EB-42E7-B913-A924046FC7CC}" type="pres">
      <dgm:prSet presAssocID="{D595C949-D7F5-4A58-9573-7153DBEB44AC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0435E692-D2A4-450B-8282-9DD4150B7F16}" type="pres">
      <dgm:prSet presAssocID="{D595C949-D7F5-4A58-9573-7153DBEB44AC}" presName="childNode" presStyleLbl="node1" presStyleIdx="1" presStyleCnt="3">
        <dgm:presLayoutVars>
          <dgm:bulletEnabled val="1"/>
        </dgm:presLayoutVars>
      </dgm:prSet>
      <dgm:spPr/>
    </dgm:pt>
    <dgm:pt modelId="{76AF3425-8833-4D89-B177-5D25E8473CCE}" type="pres">
      <dgm:prSet presAssocID="{CB683706-CE5F-49E7-82F3-0D79927019B2}" presName="hSp" presStyleCnt="0"/>
      <dgm:spPr/>
    </dgm:pt>
    <dgm:pt modelId="{7B1D58B8-6BA4-47A8-9B28-8E0417256AB7}" type="pres">
      <dgm:prSet presAssocID="{CB683706-CE5F-49E7-82F3-0D79927019B2}" presName="vProcSp" presStyleCnt="0"/>
      <dgm:spPr/>
    </dgm:pt>
    <dgm:pt modelId="{0323177B-16FE-4B9A-9D86-52F7A64A8FCA}" type="pres">
      <dgm:prSet presAssocID="{CB683706-CE5F-49E7-82F3-0D79927019B2}" presName="vSp1" presStyleCnt="0"/>
      <dgm:spPr/>
    </dgm:pt>
    <dgm:pt modelId="{F54E6D14-F19D-4F9E-8BF1-6DA877067352}" type="pres">
      <dgm:prSet presAssocID="{CB683706-CE5F-49E7-82F3-0D79927019B2}" presName="simulatedConn" presStyleLbl="solidFgAcc1" presStyleIdx="1" presStyleCnt="2"/>
      <dgm:spPr/>
    </dgm:pt>
    <dgm:pt modelId="{20CEC396-4EA2-4AF7-813B-99A505C4A82F}" type="pres">
      <dgm:prSet presAssocID="{CB683706-CE5F-49E7-82F3-0D79927019B2}" presName="vSp2" presStyleCnt="0"/>
      <dgm:spPr/>
    </dgm:pt>
    <dgm:pt modelId="{6F881F0E-FCD4-40F4-B46A-BC69D813EC60}" type="pres">
      <dgm:prSet presAssocID="{CB683706-CE5F-49E7-82F3-0D79927019B2}" presName="sibTrans" presStyleCnt="0"/>
      <dgm:spPr/>
    </dgm:pt>
    <dgm:pt modelId="{A43EADCB-4DB8-48AD-B782-AE96B2D3A40D}" type="pres">
      <dgm:prSet presAssocID="{B770AABD-A4F5-4331-840E-2DF4DB532214}" presName="compositeNode" presStyleCnt="0">
        <dgm:presLayoutVars>
          <dgm:bulletEnabled val="1"/>
        </dgm:presLayoutVars>
      </dgm:prSet>
      <dgm:spPr/>
    </dgm:pt>
    <dgm:pt modelId="{356642D9-7B91-4D68-8E38-EFE762970D65}" type="pres">
      <dgm:prSet presAssocID="{B770AABD-A4F5-4331-840E-2DF4DB532214}" presName="bgRect" presStyleLbl="node1" presStyleIdx="2" presStyleCnt="3"/>
      <dgm:spPr/>
    </dgm:pt>
    <dgm:pt modelId="{DD97E349-1428-44F2-9300-AA1282E73DC0}" type="pres">
      <dgm:prSet presAssocID="{B770AABD-A4F5-4331-840E-2DF4DB532214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46FB9E01-1C7A-4155-955B-5FE0B1848322}" type="pres">
      <dgm:prSet presAssocID="{B770AABD-A4F5-4331-840E-2DF4DB532214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649B3800-F7AB-4B64-87AA-B0A6C22E8237}" type="presOf" srcId="{429CB6F7-ED94-4758-9ACC-50A4518C6F60}" destId="{2D57278F-3572-4D40-ACBE-28DA838E2429}" srcOrd="0" destOrd="0" presId="urn:microsoft.com/office/officeart/2005/8/layout/hProcess7"/>
    <dgm:cxn modelId="{E6FC2B14-9300-4672-BD6D-48BDB4D8B516}" type="presOf" srcId="{1BB1400E-2447-4DDA-BFC2-27452F96F758}" destId="{46FB9E01-1C7A-4155-955B-5FE0B1848322}" srcOrd="0" destOrd="1" presId="urn:microsoft.com/office/officeart/2005/8/layout/hProcess7"/>
    <dgm:cxn modelId="{51545F1A-EABB-4A1C-AFEC-A2338BBBA757}" type="presOf" srcId="{B770AABD-A4F5-4331-840E-2DF4DB532214}" destId="{356642D9-7B91-4D68-8E38-EFE762970D65}" srcOrd="0" destOrd="0" presId="urn:microsoft.com/office/officeart/2005/8/layout/hProcess7"/>
    <dgm:cxn modelId="{9A7E9428-C72F-402E-B1EE-7DBB51A68253}" srcId="{0CE879BD-0ED2-4231-971A-A7F9A7880CF3}" destId="{D595C949-D7F5-4A58-9573-7153DBEB44AC}" srcOrd="1" destOrd="0" parTransId="{D7839520-7C86-47F4-8BC7-05820D0B58DD}" sibTransId="{CB683706-CE5F-49E7-82F3-0D79927019B2}"/>
    <dgm:cxn modelId="{F9D8D82C-58F6-4F10-9873-75855694F146}" type="presOf" srcId="{283F5C03-9822-4FE2-92B3-A411A040F4EB}" destId="{954E688D-83BA-4E89-AD64-968027AB0342}" srcOrd="0" destOrd="0" presId="urn:microsoft.com/office/officeart/2005/8/layout/hProcess7"/>
    <dgm:cxn modelId="{B1621531-0AAD-4239-820E-8D4C84F6E0FD}" srcId="{429CB6F7-ED94-4758-9ACC-50A4518C6F60}" destId="{52AE09C9-D353-4828-AC77-8CA8500AB00D}" srcOrd="1" destOrd="0" parTransId="{04B07E30-CD9A-43E8-BC7C-6840BD9EDDEB}" sibTransId="{2C4D2EB5-8EA1-436E-A21D-36E97C3C67D5}"/>
    <dgm:cxn modelId="{E541C13C-532B-4DF7-8E31-B789B79A8AE0}" srcId="{429CB6F7-ED94-4758-9ACC-50A4518C6F60}" destId="{581FEE0B-9327-4093-A618-F66DD1BF96D8}" srcOrd="2" destOrd="0" parTransId="{9FEA4751-4916-4149-BE77-9805DB4C9269}" sibTransId="{3EC78902-9031-4309-BEBA-9EA1AF75F3FB}"/>
    <dgm:cxn modelId="{7865A05B-0B6D-402A-BAD7-9553E2F51AE2}" type="presOf" srcId="{D595C949-D7F5-4A58-9573-7153DBEB44AC}" destId="{30FBFEFF-B6EB-42E7-B913-A924046FC7CC}" srcOrd="1" destOrd="0" presId="urn:microsoft.com/office/officeart/2005/8/layout/hProcess7"/>
    <dgm:cxn modelId="{AB3C2A4B-7F5F-47A0-A946-15E79B078150}" srcId="{B770AABD-A4F5-4331-840E-2DF4DB532214}" destId="{1BB1400E-2447-4DDA-BFC2-27452F96F758}" srcOrd="1" destOrd="0" parTransId="{44079804-BEEA-48F4-B9C0-6B89B51B4375}" sibTransId="{5A2E1457-8EC9-4CF5-8CA5-0D0C9CE3A71C}"/>
    <dgm:cxn modelId="{7D64B650-5C62-4D2F-B6B1-043BB89B135D}" type="presOf" srcId="{9F056955-CC0D-43EF-9810-58DA77685516}" destId="{0435E692-D2A4-450B-8282-9DD4150B7F16}" srcOrd="0" destOrd="2" presId="urn:microsoft.com/office/officeart/2005/8/layout/hProcess7"/>
    <dgm:cxn modelId="{221FBF53-998A-447B-A56D-957AC3144DA9}" srcId="{D595C949-D7F5-4A58-9573-7153DBEB44AC}" destId="{625CE667-1186-4B8A-9C24-64BA7FFC6A36}" srcOrd="1" destOrd="0" parTransId="{FA31FF53-670C-4586-925A-CA7ECA008790}" sibTransId="{C89D6116-A2AC-415F-BBDF-BB1AD7FDBAB0}"/>
    <dgm:cxn modelId="{15677355-A225-428F-9A5F-4483EF3D852B}" srcId="{D595C949-D7F5-4A58-9573-7153DBEB44AC}" destId="{9F056955-CC0D-43EF-9810-58DA77685516}" srcOrd="2" destOrd="0" parTransId="{A28094F7-5C84-4D04-B2B6-39EC49C6CC39}" sibTransId="{59C78932-F749-47F1-9EB4-04418936F16F}"/>
    <dgm:cxn modelId="{BD90D576-AD0D-437B-A55D-193E5214BB03}" type="presOf" srcId="{0CE879BD-0ED2-4231-971A-A7F9A7880CF3}" destId="{2D666140-4BE6-47E8-AA3F-33CEE8E0A41D}" srcOrd="0" destOrd="0" presId="urn:microsoft.com/office/officeart/2005/8/layout/hProcess7"/>
    <dgm:cxn modelId="{29EFCA77-300C-4CB0-BF41-B8976961A4EA}" srcId="{B770AABD-A4F5-4331-840E-2DF4DB532214}" destId="{4286C479-2674-471A-95F4-D5D565D1D9E5}" srcOrd="0" destOrd="0" parTransId="{5C8EBD18-D841-43EA-AACC-3C20AC7A828C}" sibTransId="{2FC31EA4-38AB-4675-A248-B42EB8827A3E}"/>
    <dgm:cxn modelId="{8647687A-DC4A-4B38-BD41-B7578FAF9D9E}" srcId="{429CB6F7-ED94-4758-9ACC-50A4518C6F60}" destId="{283F5C03-9822-4FE2-92B3-A411A040F4EB}" srcOrd="0" destOrd="0" parTransId="{FA4E0B6A-F1CF-4212-A475-89D70BA19297}" sibTransId="{C1FBDFCE-FDC7-4DBD-9950-40EF05B874F4}"/>
    <dgm:cxn modelId="{47D56481-0EEB-4F5D-B53D-C66BE87BB81C}" type="presOf" srcId="{429CB6F7-ED94-4758-9ACC-50A4518C6F60}" destId="{2D46FBB3-975A-422B-9910-9D3886D79589}" srcOrd="1" destOrd="0" presId="urn:microsoft.com/office/officeart/2005/8/layout/hProcess7"/>
    <dgm:cxn modelId="{08430786-A04A-4D45-B168-292CF7EAF778}" type="presOf" srcId="{4286C479-2674-471A-95F4-D5D565D1D9E5}" destId="{46FB9E01-1C7A-4155-955B-5FE0B1848322}" srcOrd="0" destOrd="0" presId="urn:microsoft.com/office/officeart/2005/8/layout/hProcess7"/>
    <dgm:cxn modelId="{2F8E1B8B-CE85-4C0F-AAFD-5BEB3CFBC48F}" type="presOf" srcId="{2BB5FA5D-E7D5-4786-B86C-5F1ACE4361FE}" destId="{0435E692-D2A4-450B-8282-9DD4150B7F16}" srcOrd="0" destOrd="3" presId="urn:microsoft.com/office/officeart/2005/8/layout/hProcess7"/>
    <dgm:cxn modelId="{3B637E91-2C2C-4797-B4EF-CA5EAB26E611}" type="presOf" srcId="{B770AABD-A4F5-4331-840E-2DF4DB532214}" destId="{DD97E349-1428-44F2-9300-AA1282E73DC0}" srcOrd="1" destOrd="0" presId="urn:microsoft.com/office/officeart/2005/8/layout/hProcess7"/>
    <dgm:cxn modelId="{687AAFA3-9554-434B-AF61-5F27BCFBC14A}" srcId="{0CE879BD-0ED2-4231-971A-A7F9A7880CF3}" destId="{429CB6F7-ED94-4758-9ACC-50A4518C6F60}" srcOrd="0" destOrd="0" parTransId="{58742143-C185-4471-AD75-12A9BFC8420E}" sibTransId="{690CD3E0-2B5C-465A-A7DC-CE1FD416E957}"/>
    <dgm:cxn modelId="{B0F2AEA7-3334-4918-B730-9926DBD0B69A}" srcId="{D595C949-D7F5-4A58-9573-7153DBEB44AC}" destId="{2BB5FA5D-E7D5-4786-B86C-5F1ACE4361FE}" srcOrd="3" destOrd="0" parTransId="{8BE34117-09C1-4501-AE73-1CF3894FB93F}" sibTransId="{DEE9E289-AB49-4273-BCDB-73A4C2A8C081}"/>
    <dgm:cxn modelId="{494540A8-E346-4A34-9C04-2DAD7B716CB7}" type="presOf" srcId="{581FEE0B-9327-4093-A618-F66DD1BF96D8}" destId="{954E688D-83BA-4E89-AD64-968027AB0342}" srcOrd="0" destOrd="2" presId="urn:microsoft.com/office/officeart/2005/8/layout/hProcess7"/>
    <dgm:cxn modelId="{6C6CCCAB-5249-4DA9-BDC6-10777F1156EA}" type="presOf" srcId="{D595C949-D7F5-4A58-9573-7153DBEB44AC}" destId="{C52312C2-2FD5-4FBF-9071-78485320A2C2}" srcOrd="0" destOrd="0" presId="urn:microsoft.com/office/officeart/2005/8/layout/hProcess7"/>
    <dgm:cxn modelId="{CA7335B9-E6F7-4692-938E-FCAF66AAF298}" type="presOf" srcId="{52AE09C9-D353-4828-AC77-8CA8500AB00D}" destId="{954E688D-83BA-4E89-AD64-968027AB0342}" srcOrd="0" destOrd="1" presId="urn:microsoft.com/office/officeart/2005/8/layout/hProcess7"/>
    <dgm:cxn modelId="{54BC98C0-AB01-4A13-83C7-D870718E897D}" type="presOf" srcId="{82A7B6D8-6A1A-4642-A320-DBDD5BEF2C6E}" destId="{0435E692-D2A4-450B-8282-9DD4150B7F16}" srcOrd="0" destOrd="0" presId="urn:microsoft.com/office/officeart/2005/8/layout/hProcess7"/>
    <dgm:cxn modelId="{C6946DCF-6911-44F7-A090-D179B63B09D7}" type="presOf" srcId="{625CE667-1186-4B8A-9C24-64BA7FFC6A36}" destId="{0435E692-D2A4-450B-8282-9DD4150B7F16}" srcOrd="0" destOrd="1" presId="urn:microsoft.com/office/officeart/2005/8/layout/hProcess7"/>
    <dgm:cxn modelId="{49B64ED4-0252-4294-9847-735642C86E6B}" srcId="{0CE879BD-0ED2-4231-971A-A7F9A7880CF3}" destId="{B770AABD-A4F5-4331-840E-2DF4DB532214}" srcOrd="2" destOrd="0" parTransId="{C10234B7-1459-46DC-B54C-7A3A9A6C5369}" sibTransId="{40D0F028-F01F-4635-BC62-33261F770676}"/>
    <dgm:cxn modelId="{A09F53DE-BB6D-4D46-9AFE-1F3928FF659F}" srcId="{D595C949-D7F5-4A58-9573-7153DBEB44AC}" destId="{82A7B6D8-6A1A-4642-A320-DBDD5BEF2C6E}" srcOrd="0" destOrd="0" parTransId="{28780D35-9BF2-4122-B675-53F27A6F26C7}" sibTransId="{851A3D44-BB00-4A2E-9C23-09805A2DE8EE}"/>
    <dgm:cxn modelId="{775C9EA1-45B9-4DE0-9C70-EE1CA0D13A00}" type="presParOf" srcId="{2D666140-4BE6-47E8-AA3F-33CEE8E0A41D}" destId="{21C44D76-FDAC-4391-B5B5-DAC0CEA4F762}" srcOrd="0" destOrd="0" presId="urn:microsoft.com/office/officeart/2005/8/layout/hProcess7"/>
    <dgm:cxn modelId="{723A85D2-16E8-48BA-83F5-7B8CD5AA35F7}" type="presParOf" srcId="{21C44D76-FDAC-4391-B5B5-DAC0CEA4F762}" destId="{2D57278F-3572-4D40-ACBE-28DA838E2429}" srcOrd="0" destOrd="0" presId="urn:microsoft.com/office/officeart/2005/8/layout/hProcess7"/>
    <dgm:cxn modelId="{9425AB32-4CA5-46AC-BB58-5512CC84B5D7}" type="presParOf" srcId="{21C44D76-FDAC-4391-B5B5-DAC0CEA4F762}" destId="{2D46FBB3-975A-422B-9910-9D3886D79589}" srcOrd="1" destOrd="0" presId="urn:microsoft.com/office/officeart/2005/8/layout/hProcess7"/>
    <dgm:cxn modelId="{95581992-5E94-4679-97ED-C8445EA5D512}" type="presParOf" srcId="{21C44D76-FDAC-4391-B5B5-DAC0CEA4F762}" destId="{954E688D-83BA-4E89-AD64-968027AB0342}" srcOrd="2" destOrd="0" presId="urn:microsoft.com/office/officeart/2005/8/layout/hProcess7"/>
    <dgm:cxn modelId="{47368439-044C-4304-B366-0CA144F459FD}" type="presParOf" srcId="{2D666140-4BE6-47E8-AA3F-33CEE8E0A41D}" destId="{4941FD9C-675F-4510-9443-70CAEA4C3C0B}" srcOrd="1" destOrd="0" presId="urn:microsoft.com/office/officeart/2005/8/layout/hProcess7"/>
    <dgm:cxn modelId="{48C92D57-B6F6-4E13-8627-AAA3555A5E09}" type="presParOf" srcId="{2D666140-4BE6-47E8-AA3F-33CEE8E0A41D}" destId="{214DB9D7-2775-493A-BA4D-B231F5D5843B}" srcOrd="2" destOrd="0" presId="urn:microsoft.com/office/officeart/2005/8/layout/hProcess7"/>
    <dgm:cxn modelId="{FA1EFB09-6117-4ADC-BF01-E74CDCE480F6}" type="presParOf" srcId="{214DB9D7-2775-493A-BA4D-B231F5D5843B}" destId="{A97EFA23-7949-4506-A89B-A0160627F19E}" srcOrd="0" destOrd="0" presId="urn:microsoft.com/office/officeart/2005/8/layout/hProcess7"/>
    <dgm:cxn modelId="{35477F4E-EE39-4A0D-AFAB-967F48D9C69E}" type="presParOf" srcId="{214DB9D7-2775-493A-BA4D-B231F5D5843B}" destId="{D728E029-964B-4A9C-B53A-C4386E7DF3D1}" srcOrd="1" destOrd="0" presId="urn:microsoft.com/office/officeart/2005/8/layout/hProcess7"/>
    <dgm:cxn modelId="{206D2675-4730-4BDE-AF79-F47AC05A9676}" type="presParOf" srcId="{214DB9D7-2775-493A-BA4D-B231F5D5843B}" destId="{994BE9CD-C579-4A11-AB96-40CBF85AB02B}" srcOrd="2" destOrd="0" presId="urn:microsoft.com/office/officeart/2005/8/layout/hProcess7"/>
    <dgm:cxn modelId="{CD7EE602-EEF0-4010-99CB-710B345EEAC5}" type="presParOf" srcId="{2D666140-4BE6-47E8-AA3F-33CEE8E0A41D}" destId="{E5DE9D4A-0612-4D73-94DC-20AA86B00627}" srcOrd="3" destOrd="0" presId="urn:microsoft.com/office/officeart/2005/8/layout/hProcess7"/>
    <dgm:cxn modelId="{463480A6-1D73-4FCE-A686-F3DA5CBFC19E}" type="presParOf" srcId="{2D666140-4BE6-47E8-AA3F-33CEE8E0A41D}" destId="{3D97FCA4-714F-4D44-8016-93514C56C917}" srcOrd="4" destOrd="0" presId="urn:microsoft.com/office/officeart/2005/8/layout/hProcess7"/>
    <dgm:cxn modelId="{7B33DEE8-9926-45CA-A519-1F83803613C5}" type="presParOf" srcId="{3D97FCA4-714F-4D44-8016-93514C56C917}" destId="{C52312C2-2FD5-4FBF-9071-78485320A2C2}" srcOrd="0" destOrd="0" presId="urn:microsoft.com/office/officeart/2005/8/layout/hProcess7"/>
    <dgm:cxn modelId="{00B3A0E5-40F4-4E6A-AA8F-EB818D93A142}" type="presParOf" srcId="{3D97FCA4-714F-4D44-8016-93514C56C917}" destId="{30FBFEFF-B6EB-42E7-B913-A924046FC7CC}" srcOrd="1" destOrd="0" presId="urn:microsoft.com/office/officeart/2005/8/layout/hProcess7"/>
    <dgm:cxn modelId="{8C656CD3-898A-47D2-82E4-E86F8EEDA0F4}" type="presParOf" srcId="{3D97FCA4-714F-4D44-8016-93514C56C917}" destId="{0435E692-D2A4-450B-8282-9DD4150B7F16}" srcOrd="2" destOrd="0" presId="urn:microsoft.com/office/officeart/2005/8/layout/hProcess7"/>
    <dgm:cxn modelId="{C881EECB-2E5C-4650-BE2C-0C84D55212CF}" type="presParOf" srcId="{2D666140-4BE6-47E8-AA3F-33CEE8E0A41D}" destId="{76AF3425-8833-4D89-B177-5D25E8473CCE}" srcOrd="5" destOrd="0" presId="urn:microsoft.com/office/officeart/2005/8/layout/hProcess7"/>
    <dgm:cxn modelId="{F843308F-51E7-4D34-B14A-FD6A9B8C2907}" type="presParOf" srcId="{2D666140-4BE6-47E8-AA3F-33CEE8E0A41D}" destId="{7B1D58B8-6BA4-47A8-9B28-8E0417256AB7}" srcOrd="6" destOrd="0" presId="urn:microsoft.com/office/officeart/2005/8/layout/hProcess7"/>
    <dgm:cxn modelId="{0CA98FBF-44F8-46C0-A3C7-05D1F8BC39A1}" type="presParOf" srcId="{7B1D58B8-6BA4-47A8-9B28-8E0417256AB7}" destId="{0323177B-16FE-4B9A-9D86-52F7A64A8FCA}" srcOrd="0" destOrd="0" presId="urn:microsoft.com/office/officeart/2005/8/layout/hProcess7"/>
    <dgm:cxn modelId="{8DA5E175-FA4C-47FF-A293-D9BDD169AF63}" type="presParOf" srcId="{7B1D58B8-6BA4-47A8-9B28-8E0417256AB7}" destId="{F54E6D14-F19D-4F9E-8BF1-6DA877067352}" srcOrd="1" destOrd="0" presId="urn:microsoft.com/office/officeart/2005/8/layout/hProcess7"/>
    <dgm:cxn modelId="{D6E4972E-ECD1-4881-B463-40C26E988019}" type="presParOf" srcId="{7B1D58B8-6BA4-47A8-9B28-8E0417256AB7}" destId="{20CEC396-4EA2-4AF7-813B-99A505C4A82F}" srcOrd="2" destOrd="0" presId="urn:microsoft.com/office/officeart/2005/8/layout/hProcess7"/>
    <dgm:cxn modelId="{6CBD656C-5319-4D49-8E10-910BC8DC47AE}" type="presParOf" srcId="{2D666140-4BE6-47E8-AA3F-33CEE8E0A41D}" destId="{6F881F0E-FCD4-40F4-B46A-BC69D813EC60}" srcOrd="7" destOrd="0" presId="urn:microsoft.com/office/officeart/2005/8/layout/hProcess7"/>
    <dgm:cxn modelId="{D7C2E1FE-7981-49D7-9E27-87571E3DA6E2}" type="presParOf" srcId="{2D666140-4BE6-47E8-AA3F-33CEE8E0A41D}" destId="{A43EADCB-4DB8-48AD-B782-AE96B2D3A40D}" srcOrd="8" destOrd="0" presId="urn:microsoft.com/office/officeart/2005/8/layout/hProcess7"/>
    <dgm:cxn modelId="{AB99BD44-98D2-44E3-9EA8-320E0E5DEE6D}" type="presParOf" srcId="{A43EADCB-4DB8-48AD-B782-AE96B2D3A40D}" destId="{356642D9-7B91-4D68-8E38-EFE762970D65}" srcOrd="0" destOrd="0" presId="urn:microsoft.com/office/officeart/2005/8/layout/hProcess7"/>
    <dgm:cxn modelId="{5B4FBF67-A1CA-45CE-ADC2-B86E18C14C74}" type="presParOf" srcId="{A43EADCB-4DB8-48AD-B782-AE96B2D3A40D}" destId="{DD97E349-1428-44F2-9300-AA1282E73DC0}" srcOrd="1" destOrd="0" presId="urn:microsoft.com/office/officeart/2005/8/layout/hProcess7"/>
    <dgm:cxn modelId="{ECDDDDC7-D725-41D7-A64A-9982B915A2A1}" type="presParOf" srcId="{A43EADCB-4DB8-48AD-B782-AE96B2D3A40D}" destId="{46FB9E01-1C7A-4155-955B-5FE0B1848322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7278F-3572-4D40-ACBE-28DA838E2429}">
      <dsp:nvSpPr>
        <dsp:cNvPr id="0" name=""/>
        <dsp:cNvSpPr/>
      </dsp:nvSpPr>
      <dsp:spPr>
        <a:xfrm>
          <a:off x="795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>
              <a:latin typeface="Aptos Display" panose="020F0302020204030204"/>
            </a:rPr>
            <a:t>Overview</a:t>
          </a:r>
          <a:endParaRPr lang="de-DE" sz="3900" kern="1200"/>
        </a:p>
      </dsp:txBody>
      <dsp:txXfrm rot="16200000">
        <a:off x="-1341709" y="1463319"/>
        <a:ext cx="3369962" cy="684951"/>
      </dsp:txXfrm>
    </dsp:sp>
    <dsp:sp modelId="{954E688D-83BA-4E89-AD64-968027AB0342}">
      <dsp:nvSpPr>
        <dsp:cNvPr id="0" name=""/>
        <dsp:cNvSpPr/>
      </dsp:nvSpPr>
      <dsp:spPr>
        <a:xfrm>
          <a:off x="685747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Kabelloses </a:t>
          </a:r>
          <a:r>
            <a:rPr lang="de-DE" sz="2400" kern="1200">
              <a:latin typeface="Aptos Display" panose="020F0302020204030204"/>
            </a:rPr>
            <a:t>EEG System</a:t>
          </a:r>
          <a:r>
            <a:rPr lang="de-DE" sz="2400" kern="1200"/>
            <a:t> zur Messung der elektrischen Gehirnaktivität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Verwendet Sensoren mit Kochsalzlösung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Bluetooth Verbindung</a:t>
          </a:r>
          <a:endParaRPr lang="de-DE" sz="2400" kern="1200"/>
        </a:p>
      </dsp:txBody>
      <dsp:txXfrm>
        <a:off x="685747" y="120813"/>
        <a:ext cx="2551445" cy="4109710"/>
      </dsp:txXfrm>
    </dsp:sp>
    <dsp:sp modelId="{C52312C2-2FD5-4FBF-9071-78485320A2C2}">
      <dsp:nvSpPr>
        <dsp:cNvPr id="0" name=""/>
        <dsp:cNvSpPr/>
      </dsp:nvSpPr>
      <dsp:spPr>
        <a:xfrm>
          <a:off x="3545420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>
              <a:latin typeface="Aptos Display" panose="020F0302020204030204"/>
            </a:rPr>
            <a:t>Features</a:t>
          </a:r>
          <a:endParaRPr lang="de-DE" sz="3900" kern="1200"/>
        </a:p>
      </dsp:txBody>
      <dsp:txXfrm rot="16200000">
        <a:off x="2202915" y="1463319"/>
        <a:ext cx="3369962" cy="684951"/>
      </dsp:txXfrm>
    </dsp:sp>
    <dsp:sp modelId="{D728E029-964B-4A9C-B53A-C4386E7DF3D1}">
      <dsp:nvSpPr>
        <dsp:cNvPr id="0" name=""/>
        <dsp:cNvSpPr/>
      </dsp:nvSpPr>
      <dsp:spPr>
        <a:xfrm rot="5400000">
          <a:off x="3260397" y="3389010"/>
          <a:ext cx="604294" cy="5137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5E692-D2A4-450B-8282-9DD4150B7F16}">
      <dsp:nvSpPr>
        <dsp:cNvPr id="0" name=""/>
        <dsp:cNvSpPr/>
      </dsp:nvSpPr>
      <dsp:spPr>
        <a:xfrm>
          <a:off x="4230372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 32 EEG Sensoren</a:t>
          </a:r>
          <a:r>
            <a:rPr lang="de-DE" sz="2400" kern="1200"/>
            <a:t> aus Silberchlorid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Akkulaufzeit von bis zu 6 Stunden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Flexible Platzierung der Sensoren auf der Kopfhaut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Flexibel anpassbare Kappengröße</a:t>
          </a:r>
          <a:endParaRPr lang="de-DE" sz="2400" kern="1200">
            <a:latin typeface="Aptos Display" panose="020F0302020204030204"/>
          </a:endParaRPr>
        </a:p>
      </dsp:txBody>
      <dsp:txXfrm>
        <a:off x="4230372" y="120813"/>
        <a:ext cx="2551445" cy="4109710"/>
      </dsp:txXfrm>
    </dsp:sp>
    <dsp:sp modelId="{356642D9-7B91-4D68-8E38-EFE762970D65}">
      <dsp:nvSpPr>
        <dsp:cNvPr id="0" name=""/>
        <dsp:cNvSpPr/>
      </dsp:nvSpPr>
      <dsp:spPr>
        <a:xfrm>
          <a:off x="7090045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>
              <a:latin typeface="Aptos Display" panose="020F0302020204030204"/>
            </a:rPr>
            <a:t>Limitations</a:t>
          </a:r>
        </a:p>
      </dsp:txBody>
      <dsp:txXfrm rot="16200000">
        <a:off x="5747540" y="1463319"/>
        <a:ext cx="3369962" cy="684951"/>
      </dsp:txXfrm>
    </dsp:sp>
    <dsp:sp modelId="{F54E6D14-F19D-4F9E-8BF1-6DA877067352}">
      <dsp:nvSpPr>
        <dsp:cNvPr id="0" name=""/>
        <dsp:cNvSpPr/>
      </dsp:nvSpPr>
      <dsp:spPr>
        <a:xfrm rot="5400000">
          <a:off x="6805022" y="3389010"/>
          <a:ext cx="604294" cy="5137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B9E01-1C7A-4155-955B-5FE0B1848322}">
      <dsp:nvSpPr>
        <dsp:cNvPr id="0" name=""/>
        <dsp:cNvSpPr/>
      </dsp:nvSpPr>
      <dsp:spPr>
        <a:xfrm>
          <a:off x="7774997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/>
            <a:t>korrekte Platzierung der Sensoren ist wichtig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 </a:t>
          </a:r>
          <a:r>
            <a:rPr lang="de-DE" sz="2400" kern="1200"/>
            <a:t>Kochsalzlösung kann mit der Zeit austrocknen und dadurch die Signalqualität beeinträchtigen</a:t>
          </a:r>
        </a:p>
      </dsp:txBody>
      <dsp:txXfrm>
        <a:off x="7774997" y="120813"/>
        <a:ext cx="2551445" cy="4109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agmohit/EEG-Dataset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8521924/" TargetMode="External"/><Relationship Id="rId3" Type="http://schemas.openxmlformats.org/officeDocument/2006/relationships/hyperlink" Target="https://www.sciencedirect.com/topics/agricultural-and-biological-sciences/brain-waves" TargetMode="External"/><Relationship Id="rId7" Type="http://schemas.openxmlformats.org/officeDocument/2006/relationships/hyperlink" Target="https://pmc.ncbi.nlm.nih.gov/articles/PMC11652537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motiv.com/de/flex?product-variant=saline" TargetMode="External"/><Relationship Id="rId5" Type="http://schemas.openxmlformats.org/officeDocument/2006/relationships/hyperlink" Target="https://www.learningeeg.com/basic-eeg-electrophysiology" TargetMode="External"/><Relationship Id="rId4" Type="http://schemas.openxmlformats.org/officeDocument/2006/relationships/hyperlink" Target="https://books.byui.edu/bio_264_anatomy_phy_I/1111_cerebral_cortex" TargetMode="External"/><Relationship Id="rId9" Type="http://schemas.openxmlformats.org/officeDocument/2006/relationships/hyperlink" Target="https://openreview.net/forum?id=pJlXo9TlW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agmohit/EEG-Datasets" TargetMode="External"/><Relationship Id="rId2" Type="http://schemas.openxmlformats.org/officeDocument/2006/relationships/hyperlink" Target="https://arxiv.org/html/2508.18571v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mendeley.com/datasets/y23s2xg6x4/1" TargetMode="External"/><Relationship Id="rId5" Type="http://schemas.openxmlformats.org/officeDocument/2006/relationships/hyperlink" Target="https://www.sciencedirect.com/science/article/pii/S2352340926001496" TargetMode="External"/><Relationship Id="rId4" Type="http://schemas.openxmlformats.org/officeDocument/2006/relationships/hyperlink" Target="http://www.kaggle.com/datasets/madyanomar/eeg-data-distance-learning-environment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mne.tools/stable/auto_tutorials/intro/10_overview.html" TargetMode="External"/><Relationship Id="rId3" Type="http://schemas.openxmlformats.org/officeDocument/2006/relationships/hyperlink" Target="https://pubmed.ncbi.nlm.nih.gov/26150785/" TargetMode="External"/><Relationship Id="rId7" Type="http://schemas.openxmlformats.org/officeDocument/2006/relationships/hyperlink" Target="https://mne.tools/stable/index.html" TargetMode="External"/><Relationship Id="rId2" Type="http://schemas.openxmlformats.org/officeDocument/2006/relationships/hyperlink" Target="https://www.emotiv.com/de/blogs/news/eeg-preprocessing-pipeline-guide?srsltid=AfmBOooFmvQL0TzgWvS4RjcrIvFP4LPKNYspGFF4IvKSWaYP95SwDMC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18788268" TargetMode="External"/><Relationship Id="rId5" Type="http://schemas.openxmlformats.org/officeDocument/2006/relationships/hyperlink" Target="https://github.com/sappelhoff/pyprep" TargetMode="External"/><Relationship Id="rId10" Type="http://schemas.openxmlformats.org/officeDocument/2006/relationships/hyperlink" Target="https://github.com/yorbenlodema/EEG-Pype" TargetMode="External"/><Relationship Id="rId4" Type="http://schemas.openxmlformats.org/officeDocument/2006/relationships/hyperlink" Target="https://github.com/sccn/eegprep" TargetMode="External"/><Relationship Id="rId9" Type="http://schemas.openxmlformats.org/officeDocument/2006/relationships/hyperlink" Target="https://pmc.ncbi.nlm.nih.gov/articles/PMC1297096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40366" y="413172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Gruppe 5: Grischa Staar, Maximilian Englisch, Jinghao Zhang,</a:t>
            </a:r>
            <a:endParaRPr lang="de-DE" sz="900">
              <a:solidFill>
                <a:schemeClr val="bg1"/>
              </a:solidFill>
              <a:highlight>
                <a:srgbClr val="FFFFFF"/>
              </a:highlight>
            </a:endParaRPr>
          </a:p>
          <a:p>
            <a:r>
              <a:rPr lang="de-DE">
                <a:solidFill>
                  <a:schemeClr val="bg1"/>
                </a:solidFill>
              </a:rPr>
              <a:t> Lawan Mai</a:t>
            </a:r>
            <a:endParaRPr lang="de-DE" sz="90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7DDA51-EB63-FA3E-5676-8775C20D471F}"/>
              </a:ext>
            </a:extLst>
          </p:cNvPr>
          <p:cNvSpPr txBox="1"/>
          <p:nvPr/>
        </p:nvSpPr>
        <p:spPr>
          <a:xfrm>
            <a:off x="1368379" y="2433765"/>
            <a:ext cx="94589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4800">
                <a:solidFill>
                  <a:schemeClr val="bg1"/>
                </a:solidFill>
              </a:rPr>
              <a:t>EEG-Experimente und Analyse</a:t>
            </a:r>
          </a:p>
          <a:p>
            <a:pPr algn="ctr"/>
            <a:r>
              <a:rPr lang="de-DE" sz="2400">
                <a:solidFill>
                  <a:srgbClr val="3AB4E2"/>
                </a:solidFill>
              </a:rPr>
              <a:t>Einführung &amp;</a:t>
            </a:r>
            <a:r>
              <a:rPr lang="de-DE" sz="2400">
                <a:solidFill>
                  <a:srgbClr val="3AB4E2"/>
                </a:solidFill>
                <a:ea typeface="+mn-lt"/>
                <a:cs typeface="+mn-lt"/>
              </a:rPr>
              <a:t> Visualisierung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B2003-44AB-FF09-4FE0-8B90CA04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B47BB-73F1-BE1A-0BC6-435648B9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C583A-8BC3-485D-84AE-8E8985873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EEG-Grundlagen: Messung, Wellen, Elektroden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"Unser" Gerät: Emotiv Flex 2</a:t>
            </a: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Dataset-Recherche: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öffentliche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EEG-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Daten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&amp;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Auswahlkriterien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Fokus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: Hand-Gesture-Dataset (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Emotiv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Flex 2)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Demo 1: HTML-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Visualisierung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–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dynamische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Hirnregionen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bei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Dateneingabe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Demo 2: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Visualisierung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des Hand-Gesture-Datasets</a:t>
            </a:r>
            <a:endParaRPr lang="en-US" sz="2400">
              <a:solidFill>
                <a:schemeClr val="bg1"/>
              </a:solidFill>
            </a:endParaRPr>
          </a:p>
          <a:p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E205A3-3D1A-FDFE-CCDB-E7871E13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7" y="454105"/>
            <a:ext cx="5359423" cy="1624520"/>
          </a:xfrm>
        </p:spPr>
        <p:txBody>
          <a:bodyPr anchor="ctr">
            <a:normAutofit/>
          </a:bodyPr>
          <a:lstStyle/>
          <a:p>
            <a:r>
              <a:rPr lang="de-DE" sz="3100" b="1">
                <a:solidFill>
                  <a:srgbClr val="000000"/>
                </a:solidFill>
                <a:ea typeface="+mj-lt"/>
                <a:cs typeface="+mj-lt"/>
              </a:rPr>
              <a:t>Was ist ein EEG? 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C51D7-4E56-BF80-FC52-0D3AE152A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906" y="2964736"/>
            <a:ext cx="5636515" cy="2689331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sz="4400"/>
          </a:p>
          <a:p>
            <a:r>
              <a:rPr lang="de-DE" sz="2100">
                <a:solidFill>
                  <a:srgbClr val="141414"/>
                </a:solidFill>
                <a:latin typeface="Arial"/>
                <a:cs typeface="Arial"/>
              </a:rPr>
              <a:t>Nicht-invasive </a:t>
            </a:r>
            <a:r>
              <a:rPr lang="de-DE" sz="2100">
                <a:solidFill>
                  <a:srgbClr val="141414"/>
                </a:solidFill>
                <a:latin typeface="Arial"/>
                <a:ea typeface="+mn-lt"/>
                <a:cs typeface="Arial"/>
              </a:rPr>
              <a:t>Ableitung </a:t>
            </a:r>
            <a:r>
              <a:rPr lang="de-DE" sz="2100">
                <a:solidFill>
                  <a:srgbClr val="141414"/>
                </a:solidFill>
                <a:latin typeface="Arial"/>
                <a:cs typeface="Arial"/>
              </a:rPr>
              <a:t>elektrischer Hirnaktivität über die Kopfhaut</a:t>
            </a:r>
            <a:endParaRPr lang="de-DE" sz="2100"/>
          </a:p>
          <a:p>
            <a:r>
              <a:rPr lang="de-DE" sz="2100">
                <a:solidFill>
                  <a:srgbClr val="141414"/>
                </a:solidFill>
                <a:latin typeface="Arial"/>
                <a:ea typeface="+mn-lt"/>
                <a:cs typeface="Arial"/>
              </a:rPr>
              <a:t>Erste Ableitung am Menschen 1924 (Hans Berger)</a:t>
            </a:r>
            <a:endParaRPr lang="de-DE" sz="2100">
              <a:solidFill>
                <a:srgbClr val="141414"/>
              </a:solidFill>
              <a:latin typeface="Arial"/>
              <a:cs typeface="Arial"/>
            </a:endParaRPr>
          </a:p>
          <a:p>
            <a:r>
              <a:rPr lang="de-DE" sz="2100">
                <a:solidFill>
                  <a:srgbClr val="141414"/>
                </a:solidFill>
                <a:latin typeface="Arial"/>
                <a:cs typeface="Arial"/>
              </a:rPr>
              <a:t>Neuronen erzeugen elektrische Signale; EEG misst vor allem synchronisierte Gruppenaktivität</a:t>
            </a:r>
            <a:endParaRPr lang="de-DE" sz="2100"/>
          </a:p>
          <a:p>
            <a:r>
              <a:rPr lang="de-DE" sz="2100">
                <a:solidFill>
                  <a:srgbClr val="141414"/>
                </a:solidFill>
                <a:latin typeface="Arial"/>
                <a:cs typeface="Arial"/>
              </a:rPr>
              <a:t>Signale müssen verstärkt werden, um darstell- und auswertbar zu sein</a:t>
            </a:r>
            <a:endParaRPr lang="de-DE" sz="2100"/>
          </a:p>
          <a:p>
            <a:r>
              <a:rPr lang="de-DE" sz="2000">
                <a:solidFill>
                  <a:srgbClr val="141414"/>
                </a:solidFill>
                <a:latin typeface="Arial"/>
                <a:cs typeface="Arial"/>
              </a:rPr>
              <a:t>EEG „sieht“ nicht tief ins Gehirn – vor allem kortikale Aktivität</a:t>
            </a:r>
            <a:endParaRPr lang="de-DE" sz="2000"/>
          </a:p>
          <a:p>
            <a:endParaRPr lang="de-DE" sz="1900">
              <a:solidFill>
                <a:srgbClr val="000000"/>
              </a:solidFill>
              <a:latin typeface="Aptos"/>
            </a:endParaRPr>
          </a:p>
          <a:p>
            <a:endParaRPr lang="de-DE" sz="1900" i="1">
              <a:latin typeface="Aptos"/>
            </a:endParaRPr>
          </a:p>
          <a:p>
            <a:endParaRPr lang="de-DE" sz="1900">
              <a:latin typeface="Helvetica Neue"/>
            </a:endParaRPr>
          </a:p>
          <a:p>
            <a:endParaRPr lang="de-DE" sz="1900">
              <a:latin typeface="Helvetica Neue"/>
            </a:endParaRPr>
          </a:p>
        </p:txBody>
      </p:sp>
      <p:pic>
        <p:nvPicPr>
          <p:cNvPr id="8" name="Picture 4" descr="Zickzack-Anzeigelinie">
            <a:extLst>
              <a:ext uri="{FF2B5EF4-FFF2-40B4-BE49-F238E27FC236}">
                <a16:creationId xmlns:a16="http://schemas.microsoft.com/office/drawing/2014/main" id="{1A0B80FD-55F6-0BD3-EFD3-11D032E3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54" r="16851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9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16AB95-BF1C-3BD9-BCF9-606D676E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300593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</a:rPr>
              <a:t>Gehirnwellen</a:t>
            </a:r>
            <a:endParaRPr lang="de-DE" err="1"/>
          </a:p>
        </p:txBody>
      </p:sp>
      <p:pic>
        <p:nvPicPr>
          <p:cNvPr id="4" name="Inhaltsplatzhalter 3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7850200-DFBD-2FE0-1CE7-E8FCDE771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5267" y="239745"/>
            <a:ext cx="7167502" cy="63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3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Inhaltsplatzhalter 9" descr="Ein Bild, das Gehirn, Zeichnung, Kunst enthält.&#10;&#10;KI-generierte Inhalte können fehlerhaft sein.">
            <a:extLst>
              <a:ext uri="{FF2B5EF4-FFF2-40B4-BE49-F238E27FC236}">
                <a16:creationId xmlns:a16="http://schemas.microsoft.com/office/drawing/2014/main" id="{8E775A36-E3A6-6B84-B854-B12CBAAD8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04" t="4853" r="172" b="5643"/>
          <a:stretch>
            <a:fillRect/>
          </a:stretch>
        </p:blipFill>
        <p:spPr>
          <a:xfrm>
            <a:off x="1672186" y="431671"/>
            <a:ext cx="8847656" cy="599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nhaltsplatzhalter 3" descr="Ein Bild, das Text, Diagramm, Zeichnung, Kreis enthält.&#10;&#10;KI-generierte Inhalte können fehlerhaft sein.">
            <a:extLst>
              <a:ext uri="{FF2B5EF4-FFF2-40B4-BE49-F238E27FC236}">
                <a16:creationId xmlns:a16="http://schemas.microsoft.com/office/drawing/2014/main" id="{04E18734-3540-6B4A-7C76-32F497BD3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26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9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73C8C6-26A5-0EC1-E4E7-77C27B47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Emotiv Flex 2 Saline</a:t>
            </a:r>
          </a:p>
          <a:p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nhaltsplatzhalter 3" descr="Ein Bild, das Zubehör, Gepäck und Koffer, Tasche, Rucksack enthält.&#10;&#10;KI-generierte Inhalte können fehlerhaft sein.">
            <a:extLst>
              <a:ext uri="{FF2B5EF4-FFF2-40B4-BE49-F238E27FC236}">
                <a16:creationId xmlns:a16="http://schemas.microsoft.com/office/drawing/2014/main" id="{855E70D8-A226-449F-9C1F-B2D55212F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0756" y="467208"/>
            <a:ext cx="510909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3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D56D6-DA94-C230-2A36-D30DF5E9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Emotive Flex 2 Saline</a:t>
            </a:r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E208C002-3861-F887-47EE-9D0E1C0AD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5514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56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D7BCF-D219-CAD5-4264-9703942A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EmotivPRO</a:t>
            </a: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Inhaltsplatzhalter 3" descr="Ein Bild, das Screenshot, Kreis, Text, Diagramm enthält.&#10;&#10;KI-generierte Inhalte können fehlerhaft sein.">
            <a:extLst>
              <a:ext uri="{FF2B5EF4-FFF2-40B4-BE49-F238E27FC236}">
                <a16:creationId xmlns:a16="http://schemas.microsoft.com/office/drawing/2014/main" id="{BABD0268-668D-2F0F-D8BC-79E4EE00D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1" y="2188408"/>
            <a:ext cx="6092490" cy="4668252"/>
          </a:xfrm>
          <a:prstGeom prst="rect">
            <a:avLst/>
          </a:prstGeom>
        </p:spPr>
      </p:pic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9FA5E147-D079-25B7-FB26-FB0BC7E6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90" y="752"/>
            <a:ext cx="5957135" cy="4029075"/>
          </a:xfrm>
          <a:prstGeom prst="rect">
            <a:avLst/>
          </a:prstGeom>
        </p:spPr>
      </p:pic>
      <p:pic>
        <p:nvPicPr>
          <p:cNvPr id="6" name="Grafik 5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82D9534B-B5FE-5C1B-94D6-700C68E4B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838" y="2867276"/>
            <a:ext cx="5968666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0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637AC-C5E4-70EF-63A8-EA40A9EE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B19F5-2766-3A70-64E8-8BC0D9D1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MNE Python als Basis der EEG Pipeline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005B7E8-A7D4-82DC-E22B-E7D02E3C6811}"/>
              </a:ext>
            </a:extLst>
          </p:cNvPr>
          <p:cNvSpPr txBox="1"/>
          <p:nvPr/>
        </p:nvSpPr>
        <p:spPr>
          <a:xfrm>
            <a:off x="562952" y="1710104"/>
            <a:ext cx="10905146" cy="766363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Umwandlung der EEG Daten aus der CSV in ein MNE </a:t>
            </a:r>
            <a:r>
              <a:rPr lang="de-DE" sz="2400" b="1" err="1">
                <a:solidFill>
                  <a:schemeClr val="bg1"/>
                </a:solidFill>
                <a:latin typeface="Consolas"/>
              </a:rPr>
              <a:t>RawArray</a:t>
            </a: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 zur weiteren Verarbeitung.</a:t>
            </a:r>
            <a:endParaRPr lang="de-DE" sz="2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de-DE" sz="2400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Warum MNE für unseren Datensatz?</a:t>
            </a:r>
          </a:p>
          <a:p>
            <a:pPr marL="742950" lvl="1" indent="-285750">
              <a:buFont typeface="Arial"/>
              <a:buChar char="•"/>
            </a:pPr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Geeignet für </a:t>
            </a:r>
            <a:r>
              <a:rPr lang="de-DE" sz="2400" b="1" err="1">
                <a:solidFill>
                  <a:schemeClr val="bg1"/>
                </a:solidFill>
                <a:ea typeface="+mn-lt"/>
                <a:cs typeface="+mn-lt"/>
              </a:rPr>
              <a:t>task</a:t>
            </a: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 basierte EEG Daten</a:t>
            </a:r>
            <a:endParaRPr lang="de-DE" sz="2400">
              <a:solidFill>
                <a:schemeClr val="bg1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Unterstützt </a:t>
            </a: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Filterung, Events, </a:t>
            </a:r>
            <a:r>
              <a:rPr lang="de-DE" sz="2400" b="1" err="1">
                <a:solidFill>
                  <a:schemeClr val="bg1"/>
                </a:solidFill>
                <a:ea typeface="+mn-lt"/>
                <a:cs typeface="+mn-lt"/>
              </a:rPr>
              <a:t>Epoching</a:t>
            </a:r>
            <a:r>
              <a:rPr lang="de-DE" sz="2400" b="1">
                <a:solidFill>
                  <a:schemeClr val="bg1"/>
                </a:solidFill>
                <a:ea typeface="+mn-lt"/>
                <a:cs typeface="+mn-lt"/>
              </a:rPr>
              <a:t> und Visualisierung</a:t>
            </a:r>
            <a:endParaRPr lang="de-DE" sz="2400" b="1">
              <a:solidFill>
                <a:schemeClr val="bg1"/>
              </a:solidFill>
            </a:endParaRPr>
          </a:p>
          <a:p>
            <a:pPr lvl="1"/>
            <a:endParaRPr lang="de-DE" sz="2400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sz="2400" b="1">
                <a:solidFill>
                  <a:schemeClr val="bg1"/>
                </a:solidFill>
              </a:rPr>
              <a:t>Erweiterung durch </a:t>
            </a:r>
            <a:r>
              <a:rPr lang="de-DE" sz="2400" b="1" err="1">
                <a:solidFill>
                  <a:schemeClr val="bg1"/>
                </a:solidFill>
              </a:rPr>
              <a:t>Pyprep</a:t>
            </a:r>
            <a:endParaRPr lang="de-DE" sz="2400" b="1">
              <a:solidFill>
                <a:schemeClr val="bg1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400">
                <a:solidFill>
                  <a:schemeClr val="bg1"/>
                </a:solidFill>
              </a:rPr>
              <a:t>schlechte</a:t>
            </a:r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/auffällige EEG Kanäle erkennen </a:t>
            </a:r>
          </a:p>
          <a:p>
            <a:pPr marL="742950" lvl="1" indent="-285750">
              <a:buFont typeface="Arial"/>
              <a:buChar char="•"/>
            </a:pPr>
            <a:r>
              <a:rPr lang="de-DE" sz="2400" err="1">
                <a:solidFill>
                  <a:schemeClr val="bg1"/>
                </a:solidFill>
                <a:ea typeface="+mn-lt"/>
                <a:cs typeface="+mn-lt"/>
              </a:rPr>
              <a:t>Referenzierung</a:t>
            </a:r>
            <a:r>
              <a:rPr lang="de-DE" sz="2400">
                <a:solidFill>
                  <a:schemeClr val="bg1"/>
                </a:solidFill>
                <a:ea typeface="+mn-lt"/>
                <a:cs typeface="+mn-lt"/>
              </a:rPr>
              <a:t> robuster machen</a:t>
            </a:r>
            <a:endParaRPr lang="de-DE" sz="2400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</a:rPr>
              <a:t> </a:t>
            </a: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r>
              <a:rPr lang="de-DE" b="1">
                <a:solidFill>
                  <a:schemeClr val="bg1"/>
                </a:solidFill>
              </a:rPr>
              <a:t> </a:t>
            </a:r>
            <a:endParaRPr lang="de-DE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pPr lvl="1"/>
            <a:endParaRPr lang="de-DE" b="1">
              <a:solidFill>
                <a:schemeClr val="bg1"/>
              </a:solidFill>
            </a:endParaRPr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66EF4-AF51-740D-A421-31BCC2AD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C7685-2A36-5BA2-5978-353A092D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Datasets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9AB096-E141-5190-60B5-BB3B21932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e-DE" sz="1700">
                <a:solidFill>
                  <a:schemeClr val="bg1"/>
                </a:solidFill>
                <a:ea typeface="+mn-lt"/>
                <a:cs typeface="+mn-lt"/>
              </a:rPr>
              <a:t>Ausgangspunkt: öffentliche EEG-Sammlungen (z. B.  </a:t>
            </a:r>
            <a:r>
              <a:rPr lang="de-DE" sz="170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meagmohit/EEG-Datasets</a:t>
            </a:r>
            <a:r>
              <a:rPr lang="de-DE" sz="1700">
                <a:solidFill>
                  <a:schemeClr val="bg1"/>
                </a:solidFill>
                <a:ea typeface="+mn-lt"/>
                <a:cs typeface="+mn-lt"/>
              </a:rPr>
              <a:t>, über 100 öffentliche Sets)</a:t>
            </a:r>
          </a:p>
          <a:p>
            <a:r>
              <a:rPr lang="de-DE" sz="1700">
                <a:solidFill>
                  <a:schemeClr val="bg1"/>
                </a:solidFill>
                <a:ea typeface="+mn-lt"/>
                <a:cs typeface="+mn-lt"/>
              </a:rPr>
              <a:t>Kriterien: passendes Gerät, Labelqualität, Dokumentationslage, Nutzbarkeit in MNE</a:t>
            </a:r>
            <a:endParaRPr lang="de-DE" sz="1700">
              <a:solidFill>
                <a:schemeClr val="bg1"/>
              </a:solidFill>
            </a:endParaRPr>
          </a:p>
          <a:p>
            <a:endParaRPr lang="de-DE" sz="1700">
              <a:solidFill>
                <a:schemeClr val="bg1"/>
              </a:solidFill>
            </a:endParaRPr>
          </a:p>
          <a:p>
            <a:r>
              <a:rPr lang="de-DE" sz="1700">
                <a:solidFill>
                  <a:schemeClr val="bg1"/>
                </a:solidFill>
                <a:latin typeface="Aptos"/>
                <a:cs typeface="Helvetica"/>
              </a:rPr>
              <a:t>Hand </a:t>
            </a:r>
            <a:r>
              <a:rPr lang="de-DE" sz="1700" err="1">
                <a:solidFill>
                  <a:schemeClr val="bg1"/>
                </a:solidFill>
                <a:latin typeface="Aptos"/>
                <a:cs typeface="Helvetica"/>
              </a:rPr>
              <a:t>Gesture</a:t>
            </a:r>
            <a:r>
              <a:rPr lang="de-DE" sz="1700">
                <a:solidFill>
                  <a:schemeClr val="bg1"/>
                </a:solidFill>
                <a:latin typeface="Aptos"/>
                <a:cs typeface="Helvetica"/>
              </a:rPr>
              <a:t> Dataset: </a:t>
            </a:r>
          </a:p>
          <a:p>
            <a:pPr>
              <a:buFont typeface="Arial"/>
            </a:pPr>
            <a:r>
              <a:rPr lang="de-DE" sz="1700">
                <a:solidFill>
                  <a:schemeClr val="bg1"/>
                </a:solidFill>
                <a:ea typeface="+mn-lt"/>
                <a:cs typeface="+mn-lt"/>
              </a:rPr>
              <a:t>Aufgabe: willentliche rechte Handbewegung (Faustschluss)</a:t>
            </a:r>
            <a:endParaRPr lang="de-DE" sz="17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de-DE" sz="1700">
                <a:solidFill>
                  <a:schemeClr val="bg1"/>
                </a:solidFill>
                <a:ea typeface="+mn-lt"/>
                <a:cs typeface="+mn-lt"/>
              </a:rPr>
              <a:t>EEG: 32 Elektroden nach 10-10-System, 128 Hz (Emotiv Flex2)</a:t>
            </a:r>
            <a:endParaRPr lang="de-DE" sz="17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endParaRPr lang="de-DE" sz="17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sz="1700">
                <a:solidFill>
                  <a:schemeClr val="bg1"/>
                </a:solidFill>
              </a:rPr>
              <a:t>Auf Basis von Hand </a:t>
            </a:r>
            <a:r>
              <a:rPr lang="de-DE" sz="1700" err="1">
                <a:solidFill>
                  <a:schemeClr val="bg1"/>
                </a:solidFill>
              </a:rPr>
              <a:t>Gesture</a:t>
            </a:r>
            <a:r>
              <a:rPr lang="de-DE" sz="1700">
                <a:solidFill>
                  <a:schemeClr val="bg1"/>
                </a:solidFill>
              </a:rPr>
              <a:t> Dataset auch synthetische Daten mit Fokus auf Emotion/Kognition erzeugt (Qualität aber unklar)</a:t>
            </a:r>
          </a:p>
          <a:p>
            <a:pPr>
              <a:buFont typeface="Arial"/>
              <a:buChar char="•"/>
            </a:pPr>
            <a:endParaRPr lang="de-DE" sz="17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de-DE" sz="1700">
                <a:solidFill>
                  <a:schemeClr val="bg1"/>
                </a:solidFill>
              </a:rPr>
              <a:t>-&gt; Für </a:t>
            </a:r>
            <a:r>
              <a:rPr lang="de-DE" sz="1700" err="1">
                <a:solidFill>
                  <a:schemeClr val="bg1"/>
                </a:solidFill>
              </a:rPr>
              <a:t>Preprocessing</a:t>
            </a:r>
            <a:r>
              <a:rPr lang="de-DE" sz="1700">
                <a:solidFill>
                  <a:schemeClr val="bg1"/>
                </a:solidFill>
              </a:rPr>
              <a:t> Pipeline, Visualisierung, Dynamische Darstellung der perfekte Einstieg</a:t>
            </a:r>
          </a:p>
          <a:p>
            <a:pPr marL="0" indent="0">
              <a:buNone/>
            </a:pPr>
            <a:endParaRPr lang="de-DE" sz="1700">
              <a:solidFill>
                <a:srgbClr val="FFFFFF"/>
              </a:solidFill>
            </a:endParaRPr>
          </a:p>
          <a:p>
            <a:br>
              <a:rPr lang="en-US"/>
            </a:br>
            <a:endParaRPr lang="en-US" sz="4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00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nhaltsplatzhalter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A619451-ECF5-9C12-95E0-9052654C2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8798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47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89E38AF-B242-3E8F-BEB7-08305FBE483F}"/>
              </a:ext>
            </a:extLst>
          </p:cNvPr>
          <p:cNvSpPr/>
          <p:nvPr/>
        </p:nvSpPr>
        <p:spPr>
          <a:xfrm>
            <a:off x="265524" y="1253397"/>
            <a:ext cx="6749956" cy="917374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320783-24CF-81E3-14BD-D633F7A2BC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9488" y="197857"/>
            <a:ext cx="10515600" cy="132556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Current Challenges in EEG</a:t>
            </a:r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E55EF1B-07DC-F857-5636-9C82A0EC33C4}"/>
              </a:ext>
            </a:extLst>
          </p:cNvPr>
          <p:cNvSpPr/>
          <p:nvPr/>
        </p:nvSpPr>
        <p:spPr>
          <a:xfrm>
            <a:off x="265523" y="2461446"/>
            <a:ext cx="6749956" cy="963837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de-DE" sz="3200">
                <a:solidFill>
                  <a:srgbClr val="11AEF7"/>
                </a:solidFill>
              </a:rPr>
              <a:t>2</a:t>
            </a:r>
            <a:r>
              <a:rPr lang="de-DE" sz="2400">
                <a:solidFill>
                  <a:srgbClr val="11AEF7"/>
                </a:solidFill>
              </a:rPr>
              <a:t>.</a:t>
            </a:r>
            <a:r>
              <a:rPr lang="de-DE" sz="2400">
                <a:solidFill>
                  <a:schemeClr val="bg1"/>
                </a:solidFill>
              </a:rPr>
              <a:t> 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Multiple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types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artifacts</a:t>
            </a:r>
            <a:endParaRPr lang="en-US" sz="2800" err="1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5C08660-2A95-0856-8133-4EF1A07CF96A}"/>
              </a:ext>
            </a:extLst>
          </p:cNvPr>
          <p:cNvSpPr/>
          <p:nvPr/>
        </p:nvSpPr>
        <p:spPr>
          <a:xfrm>
            <a:off x="265523" y="3688080"/>
            <a:ext cx="6749956" cy="1001008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6A55AA-9DCE-DA7C-9B82-906FB04D78A3}"/>
              </a:ext>
            </a:extLst>
          </p:cNvPr>
          <p:cNvSpPr txBox="1"/>
          <p:nvPr/>
        </p:nvSpPr>
        <p:spPr>
          <a:xfrm>
            <a:off x="1372361" y="3828214"/>
            <a:ext cx="564251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200">
                <a:solidFill>
                  <a:srgbClr val="11AEF7"/>
                </a:solidFill>
              </a:rPr>
              <a:t>3</a:t>
            </a:r>
            <a:r>
              <a:rPr lang="de-DE" sz="2800">
                <a:solidFill>
                  <a:srgbClr val="11AEF7"/>
                </a:solidFill>
              </a:rPr>
              <a:t>. </a:t>
            </a:r>
            <a:r>
              <a:rPr lang="de-DE" sz="2800" err="1">
                <a:solidFill>
                  <a:schemeClr val="bg1"/>
                </a:solidFill>
              </a:rPr>
              <a:t>Limitations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of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foundation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models</a:t>
            </a:r>
          </a:p>
          <a:p>
            <a:pPr algn="l"/>
            <a:endParaRPr lang="de-DE"/>
          </a:p>
        </p:txBody>
      </p:sp>
      <p:pic>
        <p:nvPicPr>
          <p:cNvPr id="13" name="Grafik 12" descr="Ein Bild, das Schrift, Grafiken, Reihe, Design enthält.&#10;&#10;KI-generierte Inhalte können fehlerhaft sein.">
            <a:extLst>
              <a:ext uri="{FF2B5EF4-FFF2-40B4-BE49-F238E27FC236}">
                <a16:creationId xmlns:a16="http://schemas.microsoft.com/office/drawing/2014/main" id="{49AD186B-6671-6311-F948-4E257C6F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08" y="1254164"/>
            <a:ext cx="1245221" cy="1105831"/>
          </a:xfrm>
          <a:prstGeom prst="rect">
            <a:avLst/>
          </a:prstGeom>
        </p:spPr>
      </p:pic>
      <p:pic>
        <p:nvPicPr>
          <p:cNvPr id="14" name="Grafik 13" descr="Ein Bild, das Grafiken, Clipart, Grafikdesign, Kunst enthält.&#10;&#10;KI-generierte Inhalte können fehlerhaft sein.">
            <a:extLst>
              <a:ext uri="{FF2B5EF4-FFF2-40B4-BE49-F238E27FC236}">
                <a16:creationId xmlns:a16="http://schemas.microsoft.com/office/drawing/2014/main" id="{EEF058A9-A5DE-D9A9-2B8B-3B273D7B3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37" y="2267106"/>
            <a:ext cx="1449660" cy="1449659"/>
          </a:xfrm>
          <a:prstGeom prst="rect">
            <a:avLst/>
          </a:prstGeom>
        </p:spPr>
      </p:pic>
      <p:pic>
        <p:nvPicPr>
          <p:cNvPr id="15" name="Grafik 14" descr="Ein Bild, das Grafiken, Schrift, Symbol, Grafikdesign enthält.&#10;&#10;KI-generierte Inhalte können fehlerhaft sein.">
            <a:extLst>
              <a:ext uri="{FF2B5EF4-FFF2-40B4-BE49-F238E27FC236}">
                <a16:creationId xmlns:a16="http://schemas.microsoft.com/office/drawing/2014/main" id="{21A4D691-468D-A520-CA49-2A22DAE5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87" y="3559098"/>
            <a:ext cx="1198757" cy="125451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4917CFF-BCEB-1092-BD7C-FA5F1C458A03}"/>
              </a:ext>
            </a:extLst>
          </p:cNvPr>
          <p:cNvSpPr txBox="1"/>
          <p:nvPr/>
        </p:nvSpPr>
        <p:spPr>
          <a:xfrm rot="-10800000" flipV="1">
            <a:off x="1483360" y="1428055"/>
            <a:ext cx="61569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>
                <a:solidFill>
                  <a:srgbClr val="11AEF7"/>
                </a:solidFill>
              </a:rPr>
              <a:t>1.</a:t>
            </a:r>
            <a:r>
              <a:rPr lang="de-DE" sz="3200">
                <a:solidFill>
                  <a:schemeClr val="bg1"/>
                </a:solidFill>
              </a:rPr>
              <a:t> </a:t>
            </a:r>
            <a:r>
              <a:rPr lang="de-DE" sz="2800">
                <a:solidFill>
                  <a:schemeClr val="bg1"/>
                </a:solidFill>
              </a:rPr>
              <a:t>Low signal-</a:t>
            </a:r>
            <a:r>
              <a:rPr lang="de-DE" sz="2800" err="1">
                <a:solidFill>
                  <a:schemeClr val="bg1"/>
                </a:solidFill>
              </a:rPr>
              <a:t>to</a:t>
            </a:r>
            <a:r>
              <a:rPr lang="de-DE" sz="2800">
                <a:solidFill>
                  <a:schemeClr val="bg1"/>
                </a:solidFill>
              </a:rPr>
              <a:t>-</a:t>
            </a:r>
            <a:r>
              <a:rPr lang="de-DE" sz="2800" err="1">
                <a:solidFill>
                  <a:schemeClr val="bg1"/>
                </a:solidFill>
              </a:rPr>
              <a:t>noise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ratio</a:t>
            </a:r>
            <a:r>
              <a:rPr lang="de-DE" sz="2800">
                <a:solidFill>
                  <a:schemeClr val="bg1"/>
                </a:solidFill>
              </a:rPr>
              <a:t> (SNR)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04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236B27C-AA45-4749-8961-38B4EC4BB67A}"/>
              </a:ext>
            </a:extLst>
          </p:cNvPr>
          <p:cNvSpPr/>
          <p:nvPr/>
        </p:nvSpPr>
        <p:spPr>
          <a:xfrm>
            <a:off x="474742" y="4462026"/>
            <a:ext cx="4681406" cy="1645920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2891D1-07F0-39E3-1118-E63CF08A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 err="1">
                <a:solidFill>
                  <a:schemeClr val="bg1"/>
                </a:solidFill>
                <a:ea typeface="+mj-lt"/>
                <a:cs typeface="+mj-lt"/>
              </a:rPr>
              <a:t>Proposed</a:t>
            </a:r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 Solutions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C471692-51BD-A262-871D-B89BDDE8F122}"/>
              </a:ext>
            </a:extLst>
          </p:cNvPr>
          <p:cNvSpPr/>
          <p:nvPr/>
        </p:nvSpPr>
        <p:spPr>
          <a:xfrm>
            <a:off x="474742" y="2993783"/>
            <a:ext cx="4681406" cy="1274213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4BD989C-4D2B-ABA6-D25A-D719EFEC84B5}"/>
              </a:ext>
            </a:extLst>
          </p:cNvPr>
          <p:cNvSpPr/>
          <p:nvPr/>
        </p:nvSpPr>
        <p:spPr>
          <a:xfrm>
            <a:off x="474742" y="1525539"/>
            <a:ext cx="4681406" cy="1274213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96760D-2B65-A713-993A-B09810367C9A}"/>
              </a:ext>
            </a:extLst>
          </p:cNvPr>
          <p:cNvSpPr txBox="1"/>
          <p:nvPr/>
        </p:nvSpPr>
        <p:spPr>
          <a:xfrm>
            <a:off x="680755" y="1523734"/>
            <a:ext cx="418356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1: Low SNR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Artifact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detection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correction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improve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signal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quality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 sz="2000">
              <a:solidFill>
                <a:schemeClr val="bg1"/>
              </a:solidFill>
            </a:endParaRPr>
          </a:p>
          <a:p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2: Multiple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artifacts</a:t>
            </a:r>
            <a:endParaRPr lang="de-DE" sz="2000" b="1" u="sng">
              <a:solidFill>
                <a:srgbClr val="11AEF7"/>
              </a:solidFill>
              <a:ea typeface="+mn-lt"/>
              <a:cs typeface="+mn-lt"/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  Use task-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specific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hybrid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methods</a:t>
            </a:r>
            <a:endParaRPr lang="de-DE" sz="2000">
              <a:solidFill>
                <a:schemeClr val="bg1"/>
              </a:solidFill>
            </a:endParaRPr>
          </a:p>
          <a:p>
            <a:pPr algn="l"/>
            <a:endParaRPr lang="de-DE" sz="2000" b="1" u="sng">
              <a:solidFill>
                <a:schemeClr val="bg1"/>
              </a:solidFill>
            </a:endParaRPr>
          </a:p>
          <a:p>
            <a:endParaRPr lang="de-DE" sz="2000" b="1" u="sng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3: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Foundation</a:t>
            </a:r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model</a:t>
            </a:r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limitations</a:t>
            </a:r>
            <a:endParaRPr lang="de-DE" sz="2000" b="1" u="sng">
              <a:solidFill>
                <a:srgbClr val="11AEF7"/>
              </a:solidFill>
              <a:ea typeface="+mn-lt"/>
              <a:cs typeface="+mn-lt"/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Integrating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brain-inspired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algorithms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into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foundation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models</a:t>
            </a:r>
            <a:endParaRPr lang="de-DE" sz="20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713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B4B6F-853B-53F8-7EAF-C87BC853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581B0-4E92-7017-F99F-BA86339E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 err="1">
                <a:solidFill>
                  <a:schemeClr val="bg1"/>
                </a:solidFill>
                <a:ea typeface="+mj-lt"/>
                <a:cs typeface="+mj-lt"/>
              </a:rPr>
              <a:t>Recent</a:t>
            </a:r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 Solution: EEG-X</a:t>
            </a:r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73D0C6F-B12A-4C0F-57F3-BAC835411F04}"/>
              </a:ext>
            </a:extLst>
          </p:cNvPr>
          <p:cNvSpPr/>
          <p:nvPr/>
        </p:nvSpPr>
        <p:spPr>
          <a:xfrm>
            <a:off x="400401" y="1525540"/>
            <a:ext cx="5155332" cy="4708152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A3B2D4D-38A5-B5D2-1AD8-0FAE456F9895}"/>
              </a:ext>
            </a:extLst>
          </p:cNvPr>
          <p:cNvSpPr txBox="1"/>
          <p:nvPr/>
        </p:nvSpPr>
        <p:spPr>
          <a:xfrm>
            <a:off x="707880" y="1814989"/>
            <a:ext cx="4537437" cy="40395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b="1">
                <a:solidFill>
                  <a:srgbClr val="11AEF7"/>
                </a:solidFill>
                <a:ea typeface="+mn-lt"/>
                <a:cs typeface="+mn-lt"/>
              </a:rPr>
              <a:t>EEG-X:</a:t>
            </a:r>
          </a:p>
          <a:p>
            <a:pPr marL="342900" indent="-342900">
              <a:spcAft>
                <a:spcPts val="500"/>
              </a:spcAft>
              <a:buFont typeface="Courier New"/>
              <a:buChar char="o"/>
            </a:pP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Device-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agnostic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noise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-robust</a:t>
            </a:r>
          </a:p>
          <a:p>
            <a:pPr marL="342900" indent="-342900">
              <a:spcAft>
                <a:spcPts val="500"/>
              </a:spcAft>
              <a:buFont typeface="Courier New"/>
              <a:buChar char="o"/>
            </a:pP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Location-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based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channel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embedding</a:t>
            </a:r>
            <a:endParaRPr lang="de-DE" sz="2000" err="1">
              <a:solidFill>
                <a:schemeClr val="bg1"/>
              </a:solidFill>
            </a:endParaRPr>
          </a:p>
          <a:p>
            <a:pPr marL="342900" indent="-342900">
              <a:spcAft>
                <a:spcPts val="500"/>
              </a:spcAft>
              <a:buFont typeface="Courier New"/>
              <a:buChar char="o"/>
            </a:pP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Noise-aware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reconstruction</a:t>
            </a: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Courier New"/>
              <a:buChar char="o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Uses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DiCT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projection</a:t>
            </a: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Dictionary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Convolution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Transformation</a:t>
            </a: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compares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EEG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signals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more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reliably</a:t>
            </a: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reduces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sensitivity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noise</a:t>
            </a: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captures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frequency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shape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patterns</a:t>
            </a: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3142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25A3A-F293-6CFC-19CB-0B55A542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F270A-7C71-ACD5-92B8-A8B934A6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73DEF5-B8BC-9E2D-16CF-CEA2C65A4948}"/>
              </a:ext>
            </a:extLst>
          </p:cNvPr>
          <p:cNvSpPr txBox="1"/>
          <p:nvPr/>
        </p:nvSpPr>
        <p:spPr>
          <a:xfrm>
            <a:off x="562952" y="1710104"/>
            <a:ext cx="10905146" cy="45243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Experiment 1: </a:t>
            </a:r>
            <a:r>
              <a:rPr lang="de-DE" b="1" err="1">
                <a:solidFill>
                  <a:schemeClr val="bg1"/>
                </a:solidFill>
              </a:rPr>
              <a:t>Studying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the</a:t>
            </a:r>
            <a:r>
              <a:rPr lang="de-DE" b="1">
                <a:solidFill>
                  <a:schemeClr val="bg1"/>
                </a:solidFill>
              </a:rPr>
              <a:t> Uncanny Valley </a:t>
            </a:r>
            <a:r>
              <a:rPr lang="de-DE" b="1" err="1">
                <a:solidFill>
                  <a:schemeClr val="bg1"/>
                </a:solidFill>
              </a:rPr>
              <a:t>Effect</a:t>
            </a:r>
            <a:r>
              <a:rPr lang="de-DE" b="1">
                <a:solidFill>
                  <a:schemeClr val="bg1"/>
                </a:solidFill>
              </a:rPr>
              <a:t> in AI-NLR via EEG</a:t>
            </a:r>
            <a:endParaRPr lang="de-DE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Presentation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AI-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generated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videos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featuring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characters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varying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Near-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Comic).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characters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news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content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information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weather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reports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Integrated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diverse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audio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high-quality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voice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clones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basic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mechanical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robotic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voices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Incongruence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Stress):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High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visual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combined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robotic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audio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significantly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(Engagement Drop):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Incongruent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uncanny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moments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decrease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patterns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using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built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-in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detection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Stress, Engagement, and Interest).</a:t>
            </a:r>
            <a:endParaRPr lang="de-DE"/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29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8DC72-9E4E-9327-A7C3-2A2E4A52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B0E1F-CFA0-CD0D-10D9-1A2DCEFF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ED7232D-6652-B131-9224-611E771CC4DB}"/>
              </a:ext>
            </a:extLst>
          </p:cNvPr>
          <p:cNvSpPr txBox="1"/>
          <p:nvPr/>
        </p:nvSpPr>
        <p:spPr>
          <a:xfrm>
            <a:off x="562952" y="1710104"/>
            <a:ext cx="10905146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Experiment 2: Expert vs. Plain Language 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endParaRPr lang="de-DE" err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Live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between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"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consultant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"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wearer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Variable: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Use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complex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simplified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plain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Load):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Technical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jargon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excessive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Focus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eventual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fatigue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(Frustration):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Lack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clarity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expert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triggers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peaks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H3 (Engagement):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Plain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sustain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social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connection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Comparison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(Focus, Stress, Engagement)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Frontal Theta Power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marker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effort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973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DA102-9CB8-1045-1E87-7043FAE0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0627F-3346-9477-431B-33F86AD8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E6C932-97CF-F22F-1B71-B1E52FAB63A6}"/>
              </a:ext>
            </a:extLst>
          </p:cNvPr>
          <p:cNvSpPr txBox="1"/>
          <p:nvPr/>
        </p:nvSpPr>
        <p:spPr>
          <a:xfrm>
            <a:off x="562952" y="1710104"/>
            <a:ext cx="10905146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Experiment 2: Expert vs. Plain Language 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endParaRPr lang="de-DE" err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Live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between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"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consultant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"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wearer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Variable: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Use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complex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simplified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plain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Load):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Technical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jargon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excessive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Focus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eventual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fatigue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(Frustration):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Lack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clarity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expert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triggers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peaks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H3 (Engagement):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Plain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sustain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social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connection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Comparison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(Focus, Stress, Engagement)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Frontal Theta Power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marker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effort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0EC0F7B-5D6D-B09C-0EFB-A7C8C93E7800}"/>
              </a:ext>
            </a:extLst>
          </p:cNvPr>
          <p:cNvSpPr txBox="1"/>
          <p:nvPr/>
        </p:nvSpPr>
        <p:spPr>
          <a:xfrm>
            <a:off x="562952" y="5148873"/>
            <a:ext cx="109051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!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also possible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attention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excitement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well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conduct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experiments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multilingual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 !</a:t>
            </a:r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156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5A392-7680-0689-5A44-5FEB3F70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BCEBC-AA3E-C53E-6D44-BB1FA024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Evaluation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39661E-9539-8833-767A-511A74B4C43A}"/>
              </a:ext>
            </a:extLst>
          </p:cNvPr>
          <p:cNvSpPr txBox="1"/>
          <p:nvPr/>
        </p:nvSpPr>
        <p:spPr>
          <a:xfrm>
            <a:off x="641106" y="1329104"/>
            <a:ext cx="10905146" cy="4801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b="1"/>
          </a:p>
          <a:p>
            <a:pPr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Artifact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Suppression &amp;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Filtering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filtering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motion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artifacts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jaw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muscle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activity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 and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eye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blinks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ensure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signal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purity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Environmental Noise Control</a:t>
            </a:r>
            <a:endParaRPr lang="de-DE"/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identify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potential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electromagnetic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noise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from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monitors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external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hardware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Baseline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Calibration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Record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dedicated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resting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baseline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each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Precision Event-Marking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Evaluate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based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on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timestamps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synchronized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exactly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onset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visual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auditory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stimuli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Smoothing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&amp; Lag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Consideration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Account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temporal lag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inherent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translated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raw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de-DE" b="1">
              <a:solidFill>
                <a:schemeClr val="bg1"/>
              </a:solidFill>
            </a:endParaRPr>
          </a:p>
          <a:p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363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B10EE-16A5-E1B4-F642-67608918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Quellen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98A14-D63C-8ACD-A9CF-3DE38948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https://www.sciencedirect.com/topics/agricultural-and-biological-sciences/brain-waves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https://books.byui.edu/bio_264_anatomy_phy_I/1111_cerebral_cortex</a:t>
            </a:r>
          </a:p>
          <a:p>
            <a:r>
              <a:rPr lang="de-DE" sz="2000">
                <a:solidFill>
                  <a:schemeClr val="bg1"/>
                </a:solidFill>
                <a:latin typeface="Helvetica Neue"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https://www.learningeeg.com/basic-eeg-electrophysiology</a:t>
            </a:r>
            <a:endParaRPr lang="de-DE" sz="2000">
              <a:solidFill>
                <a:schemeClr val="bg1"/>
              </a:solidFill>
              <a:ea typeface="+mn-lt"/>
              <a:cs typeface="+mn-lt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https://www.emotiv.com/de/flex?product-variant=saline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https://pmc.ncbi.nlm.nih.gov/articles/PMC11652537/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https://pmc.ncbi.nlm.nih.gov/articles/PMC8521924/</a:t>
            </a:r>
          </a:p>
          <a:p>
            <a:r>
              <a:rPr lang="de-DE" sz="2000" u="sng">
                <a:solidFill>
                  <a:schemeClr val="bg1"/>
                </a:solidFill>
                <a:ea typeface="+mn-lt"/>
                <a:cs typeface="+mn-lt"/>
                <a:hlinkClick r:id="rId9"/>
              </a:rPr>
              <a:t>https://openreview.net/forum?id=pJlXo9TlW1</a:t>
            </a:r>
            <a:endParaRPr lang="de-DE" sz="2000" u="sng">
              <a:solidFill>
                <a:schemeClr val="bg1"/>
              </a:solidFill>
              <a:hlinkClick r:id="rId9"/>
            </a:endParaRPr>
          </a:p>
          <a:p>
            <a:r>
              <a:rPr lang="de-DE" sz="2000" u="sng">
                <a:solidFill>
                  <a:schemeClr val="bg1"/>
                </a:solidFill>
              </a:rPr>
              <a:t>Dataset: 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Reyes-Jiménez, Fernanda; Rosas-Agraz, Fernanda; Macias-Naranjo, Eduardo; Romo-Vázquez, Rebeca ; Vélez-Pérez, Hugo ;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J.Alvarado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-Rodríguez, Francisco; Guzman, Erick Eduardo (2025), “EEG and EMG Dataset for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Analyzing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Movement-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Related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Cortical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Potentials in Hand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Gesture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Tasks”, Mendeley Data, V1,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doi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: 10.17632/y23s2xg6x4.1</a:t>
            </a:r>
            <a:endParaRPr lang="de-DE" sz="2000" u="sng">
              <a:solidFill>
                <a:schemeClr val="bg1"/>
              </a:solidFill>
            </a:endParaRPr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691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133E71-6C60-4AE7-C67D-B0432D3C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Dataset </a:t>
            </a:r>
            <a:r>
              <a:rPr lang="de-DE" err="1"/>
              <a:t>Findings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FA7C7-91EC-D750-B72E-FEF4AE53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1800"/>
              <a:t>Alljoined-1.6M: A Million-Trial EEG-Image Dataset </a:t>
            </a:r>
            <a:r>
              <a:rPr lang="de-DE" sz="1800" err="1"/>
              <a:t>for</a:t>
            </a:r>
            <a:r>
              <a:rPr lang="de-DE" sz="1800"/>
              <a:t> </a:t>
            </a:r>
            <a:r>
              <a:rPr lang="de-DE" sz="1800" err="1"/>
              <a:t>Evaluating</a:t>
            </a:r>
            <a:r>
              <a:rPr lang="de-DE" sz="1800"/>
              <a:t> </a:t>
            </a:r>
            <a:r>
              <a:rPr lang="de-DE" sz="1800" err="1"/>
              <a:t>Affordable</a:t>
            </a:r>
            <a:r>
              <a:rPr lang="de-DE" sz="1800"/>
              <a:t> Brain-Computer Interfaces: </a:t>
            </a:r>
            <a:r>
              <a:rPr lang="de-DE" sz="1800">
                <a:hlinkClick r:id="rId2"/>
              </a:rPr>
              <a:t>https</a:t>
            </a:r>
            <a:r>
              <a:rPr lang="de-DE" sz="1800">
                <a:ea typeface="+mn-lt"/>
                <a:cs typeface="+mn-lt"/>
                <a:hlinkClick r:id="rId2"/>
              </a:rPr>
              <a:t>://arxiv.org/html/2508.18571v2</a:t>
            </a:r>
          </a:p>
          <a:p>
            <a:r>
              <a:rPr lang="de-DE" sz="1800"/>
              <a:t>GitHub </a:t>
            </a:r>
            <a:r>
              <a:rPr lang="de-DE" sz="1800" err="1"/>
              <a:t>public</a:t>
            </a:r>
            <a:r>
              <a:rPr lang="de-DE" sz="1800"/>
              <a:t> EEG </a:t>
            </a:r>
            <a:r>
              <a:rPr lang="de-DE" sz="1800" err="1"/>
              <a:t>datasets</a:t>
            </a:r>
            <a:r>
              <a:rPr lang="de-DE" sz="1800"/>
              <a:t> </a:t>
            </a:r>
            <a:r>
              <a:rPr lang="de-DE" sz="1800" err="1"/>
              <a:t>list</a:t>
            </a:r>
            <a:r>
              <a:rPr lang="de-DE" sz="1800"/>
              <a:t>: </a:t>
            </a:r>
            <a:r>
              <a:rPr lang="de-DE" sz="1800">
                <a:ea typeface="+mn-lt"/>
                <a:cs typeface="+mn-lt"/>
                <a:hlinkClick r:id="rId3"/>
              </a:rPr>
              <a:t>https://github.com/meagmohit/EEG-Datasets</a:t>
            </a:r>
          </a:p>
          <a:p>
            <a:r>
              <a:rPr lang="de-DE" sz="1800">
                <a:ea typeface="+mn-lt"/>
                <a:cs typeface="+mn-lt"/>
              </a:rPr>
              <a:t>Kaggle Dataset with Emotiv Epoc X14 while doing a task with students: </a:t>
            </a:r>
            <a:r>
              <a:rPr lang="de-DE" sz="1800">
                <a:ea typeface="+mn-lt"/>
                <a:cs typeface="+mn-lt"/>
                <a:hlinkClick r:id="rId4"/>
              </a:rPr>
              <a:t>https://www.kaggle.com/datasets/madyanomar/eeg-data-distance-learning-environment</a:t>
            </a:r>
          </a:p>
          <a:p>
            <a:r>
              <a:rPr lang="de-DE" sz="1800" b="1"/>
              <a:t>Hand </a:t>
            </a:r>
            <a:r>
              <a:rPr lang="de-DE" sz="1800" b="1" err="1"/>
              <a:t>gesture</a:t>
            </a:r>
            <a:r>
              <a:rPr lang="de-DE" sz="1800" b="1"/>
              <a:t> </a:t>
            </a:r>
            <a:r>
              <a:rPr lang="de-DE" sz="1800" b="1" err="1"/>
              <a:t>data</a:t>
            </a:r>
            <a:r>
              <a:rPr lang="de-DE" sz="1800" b="1"/>
              <a:t> </a:t>
            </a:r>
            <a:r>
              <a:rPr lang="de-DE" sz="1800" b="1" err="1"/>
              <a:t>with</a:t>
            </a:r>
            <a:r>
              <a:rPr lang="de-DE" sz="1800" b="1"/>
              <a:t> Emotiv Flex2:</a:t>
            </a:r>
            <a:r>
              <a:rPr lang="de-DE" sz="1800"/>
              <a:t> </a:t>
            </a:r>
            <a:r>
              <a:rPr lang="de-DE" sz="1800">
                <a:ea typeface="+mn-lt"/>
                <a:cs typeface="+mn-lt"/>
                <a:hlinkClick r:id="rId5"/>
              </a:rPr>
              <a:t>https://www.sciencedirect.com/science/article/pii/S2352340926001496</a:t>
            </a:r>
            <a:r>
              <a:rPr lang="de-DE" sz="1800">
                <a:ea typeface="+mn-lt"/>
                <a:cs typeface="+mn-lt"/>
              </a:rPr>
              <a:t>, </a:t>
            </a:r>
            <a:r>
              <a:rPr lang="de-DE" sz="1800">
                <a:ea typeface="+mn-lt"/>
                <a:cs typeface="+mn-lt"/>
                <a:hlinkClick r:id="rId6"/>
              </a:rPr>
              <a:t>https://data.mendeley.com/datasets/y23s2xg6x4/1</a:t>
            </a:r>
          </a:p>
          <a:p>
            <a:r>
              <a:rPr lang="de-DE" sz="1400">
                <a:ea typeface="+mn-lt"/>
                <a:cs typeface="+mn-lt"/>
              </a:rPr>
              <a:t>Hand </a:t>
            </a:r>
            <a:r>
              <a:rPr lang="de-DE" sz="1400" err="1">
                <a:ea typeface="+mn-lt"/>
                <a:cs typeface="+mn-lt"/>
              </a:rPr>
              <a:t>gesture</a:t>
            </a:r>
            <a:r>
              <a:rPr lang="de-DE" sz="1400">
                <a:ea typeface="+mn-lt"/>
                <a:cs typeface="+mn-lt"/>
              </a:rPr>
              <a:t> sieht am vielversprechendsten aus, um mal </a:t>
            </a:r>
            <a:r>
              <a:rPr lang="de-DE" sz="1400" err="1">
                <a:ea typeface="+mn-lt"/>
                <a:cs typeface="+mn-lt"/>
              </a:rPr>
              <a:t>preproc</a:t>
            </a:r>
            <a:r>
              <a:rPr lang="de-DE" sz="1400">
                <a:ea typeface="+mn-lt"/>
                <a:cs typeface="+mn-lt"/>
              </a:rPr>
              <a:t> </a:t>
            </a:r>
            <a:r>
              <a:rPr lang="de-DE" sz="1400" err="1">
                <a:ea typeface="+mn-lt"/>
                <a:cs typeface="+mn-lt"/>
              </a:rPr>
              <a:t>pipelines</a:t>
            </a:r>
            <a:r>
              <a:rPr lang="de-DE" sz="1400">
                <a:ea typeface="+mn-lt"/>
                <a:cs typeface="+mn-lt"/>
              </a:rPr>
              <a:t> zu testen, da es genau die daten von "unserem" gerät sind, der </a:t>
            </a:r>
            <a:r>
              <a:rPr lang="de-DE" sz="1400" err="1">
                <a:ea typeface="+mn-lt"/>
                <a:cs typeface="+mn-lt"/>
              </a:rPr>
              <a:t>task</a:t>
            </a:r>
            <a:r>
              <a:rPr lang="de-DE" sz="1400">
                <a:ea typeface="+mn-lt"/>
                <a:cs typeface="+mn-lt"/>
              </a:rPr>
              <a:t> passt vielleicht nicht ganz, aber um erstmal die passende </a:t>
            </a:r>
            <a:r>
              <a:rPr lang="de-DE" sz="1400" err="1">
                <a:ea typeface="+mn-lt"/>
                <a:cs typeface="+mn-lt"/>
              </a:rPr>
              <a:t>preproc</a:t>
            </a:r>
            <a:r>
              <a:rPr lang="de-DE" sz="1400">
                <a:ea typeface="+mn-lt"/>
                <a:cs typeface="+mn-lt"/>
              </a:rPr>
              <a:t> </a:t>
            </a:r>
            <a:r>
              <a:rPr lang="de-DE" sz="1400" err="1">
                <a:ea typeface="+mn-lt"/>
                <a:cs typeface="+mn-lt"/>
              </a:rPr>
              <a:t>pipeline</a:t>
            </a:r>
            <a:r>
              <a:rPr lang="de-DE" sz="1400">
                <a:ea typeface="+mn-lt"/>
                <a:cs typeface="+mn-lt"/>
              </a:rPr>
              <a:t> zu finden, wäre es </a:t>
            </a:r>
            <a:r>
              <a:rPr lang="de-DE" sz="1400" err="1">
                <a:ea typeface="+mn-lt"/>
                <a:cs typeface="+mn-lt"/>
              </a:rPr>
              <a:t>vllt</a:t>
            </a:r>
            <a:r>
              <a:rPr lang="de-DE" sz="1400">
                <a:ea typeface="+mn-lt"/>
                <a:cs typeface="+mn-lt"/>
              </a:rPr>
              <a:t> gut</a:t>
            </a:r>
          </a:p>
          <a:p>
            <a:endParaRPr lang="de-DE" sz="1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885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9CDBC-7944-21A5-7D53-75292D7C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Preprocessing</a:t>
            </a:r>
            <a:r>
              <a:rPr lang="de-DE"/>
              <a:t> Pipeline </a:t>
            </a:r>
            <a:r>
              <a:rPr lang="de-DE" err="1"/>
              <a:t>Findings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B20632-2604-353A-325D-81522633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sz="1600"/>
              <a:t>Emotiv Guide: </a:t>
            </a:r>
            <a:r>
              <a:rPr lang="de-DE" sz="1600">
                <a:ea typeface="+mn-lt"/>
                <a:cs typeface="+mn-lt"/>
                <a:hlinkClick r:id="rId2"/>
              </a:rPr>
              <a:t>https://www.emotiv.com/de/blogs/news/eeg-preprocessing-pipeline-guide?srsltid=AfmBOooFmvQL0TzgWvS4RjcrIvFP4LPKNYspGFF4IvKSWaYP95SwDMCm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sz="1200">
                <a:ea typeface="+mn-lt"/>
                <a:cs typeface="+mn-lt"/>
              </a:rPr>
              <a:t>(guter </a:t>
            </a:r>
            <a:r>
              <a:rPr lang="de-DE" sz="1200" err="1">
                <a:ea typeface="+mn-lt"/>
                <a:cs typeface="+mn-lt"/>
              </a:rPr>
              <a:t>guide</a:t>
            </a:r>
            <a:r>
              <a:rPr lang="de-DE" sz="1200">
                <a:ea typeface="+mn-lt"/>
                <a:cs typeface="+mn-lt"/>
              </a:rPr>
              <a:t> für generelles zu </a:t>
            </a:r>
            <a:r>
              <a:rPr lang="de-DE" sz="1200" err="1">
                <a:ea typeface="+mn-lt"/>
                <a:cs typeface="+mn-lt"/>
              </a:rPr>
              <a:t>preprocessing</a:t>
            </a:r>
            <a:r>
              <a:rPr lang="de-DE" sz="1200">
                <a:ea typeface="+mn-lt"/>
                <a:cs typeface="+mn-lt"/>
              </a:rPr>
              <a:t>, </a:t>
            </a:r>
            <a:r>
              <a:rPr lang="de-DE" sz="1200" err="1">
                <a:ea typeface="+mn-lt"/>
                <a:cs typeface="+mn-lt"/>
              </a:rPr>
              <a:t>pipeline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optionen</a:t>
            </a:r>
            <a:r>
              <a:rPr lang="de-DE" sz="1200">
                <a:ea typeface="+mn-lt"/>
                <a:cs typeface="+mn-lt"/>
              </a:rPr>
              <a:t>, warum man das überhaupt braucht etc.)</a:t>
            </a:r>
            <a:endParaRPr lang="de-DE" sz="1200"/>
          </a:p>
          <a:p>
            <a:r>
              <a:rPr lang="de-DE" sz="1600" err="1">
                <a:highlight>
                  <a:srgbClr val="F2F2F2"/>
                </a:highlight>
                <a:latin typeface="Helvetica Neue"/>
              </a:rPr>
              <a:t>PREP Pipeline</a:t>
            </a:r>
            <a:r>
              <a:rPr lang="de-DE" sz="1600"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600" err="1">
                <a:highlight>
                  <a:srgbClr val="F2F2F2"/>
                </a:highlight>
                <a:latin typeface="Helvetica Neue"/>
              </a:rPr>
              <a:t>standardized</a:t>
            </a:r>
            <a:r>
              <a:rPr lang="de-DE" sz="1600">
                <a:highlight>
                  <a:srgbClr val="F2F2F2"/>
                </a:highlight>
                <a:latin typeface="Helvetica Neue"/>
              </a:rPr>
              <a:t>: </a:t>
            </a:r>
            <a:r>
              <a:rPr lang="de-DE" sz="16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  <a:hlinkClick r:id="rId3"/>
              </a:rPr>
              <a:t>https://pubmed.ncbi.nlm.nih.gov/26150785/</a:t>
            </a:r>
            <a:r>
              <a:rPr lang="de-DE" sz="1600">
                <a:highlight>
                  <a:srgbClr val="F2F2F2"/>
                </a:highlight>
                <a:latin typeface="Helvetica Neue"/>
              </a:rPr>
              <a:t> (wissenschaftlicher Artikel zur </a:t>
            </a:r>
            <a:r>
              <a:rPr lang="de-DE" sz="1600" err="1">
                <a:highlight>
                  <a:srgbClr val="F2F2F2"/>
                </a:highlight>
                <a:latin typeface="Helvetica Neue"/>
              </a:rPr>
              <a:t>pipeline</a:t>
            </a:r>
            <a:r>
              <a:rPr lang="de-DE" sz="1600">
                <a:highlight>
                  <a:srgbClr val="F2F2F2"/>
                </a:highlight>
                <a:latin typeface="Helvetica Neue"/>
              </a:rPr>
              <a:t>)</a:t>
            </a:r>
            <a:endParaRPr lang="de-DE" sz="1600"/>
          </a:p>
          <a:p>
            <a:r>
              <a:rPr lang="de-DE" sz="1600" err="1"/>
              <a:t>EEGprep</a:t>
            </a:r>
            <a:r>
              <a:rPr lang="de-DE" sz="1600"/>
              <a:t> </a:t>
            </a:r>
            <a:r>
              <a:rPr lang="de-DE" sz="1600" err="1"/>
              <a:t>python</a:t>
            </a:r>
            <a:r>
              <a:rPr lang="de-DE" sz="1600"/>
              <a:t> </a:t>
            </a:r>
            <a:r>
              <a:rPr lang="de-DE" sz="1600" err="1"/>
              <a:t>pipeline</a:t>
            </a:r>
            <a:r>
              <a:rPr lang="de-DE" sz="1600"/>
              <a:t> </a:t>
            </a:r>
            <a:r>
              <a:rPr lang="de-DE" sz="1600" err="1"/>
              <a:t>package</a:t>
            </a:r>
            <a:r>
              <a:rPr lang="de-DE" sz="1600"/>
              <a:t>: </a:t>
            </a:r>
            <a:r>
              <a:rPr lang="de-DE" sz="1600">
                <a:ea typeface="+mn-lt"/>
                <a:cs typeface="+mn-lt"/>
                <a:hlinkClick r:id="rId4"/>
              </a:rPr>
              <a:t>https://github.com/sccn/eegprep</a:t>
            </a:r>
            <a:r>
              <a:rPr lang="de-DE" sz="1600">
                <a:ea typeface="+mn-lt"/>
                <a:cs typeface="+mn-lt"/>
              </a:rPr>
              <a:t> (EEGLAB </a:t>
            </a:r>
            <a:r>
              <a:rPr lang="de-DE" sz="1600" err="1">
                <a:ea typeface="+mn-lt"/>
                <a:cs typeface="+mn-lt"/>
              </a:rPr>
              <a:t>for</a:t>
            </a:r>
            <a:r>
              <a:rPr lang="de-DE" sz="1600">
                <a:ea typeface="+mn-lt"/>
                <a:cs typeface="+mn-lt"/>
              </a:rPr>
              <a:t> Python)</a:t>
            </a:r>
          </a:p>
          <a:p>
            <a:r>
              <a:rPr lang="de-DE" sz="1600" err="1"/>
              <a:t>PyPREP</a:t>
            </a:r>
            <a:r>
              <a:rPr lang="de-DE" sz="1600"/>
              <a:t> </a:t>
            </a:r>
            <a:r>
              <a:rPr lang="de-DE" sz="1600" err="1"/>
              <a:t>another</a:t>
            </a:r>
            <a:r>
              <a:rPr lang="de-DE" sz="1600"/>
              <a:t> </a:t>
            </a:r>
            <a:r>
              <a:rPr lang="de-DE" sz="1600" err="1"/>
              <a:t>preprocessing</a:t>
            </a:r>
            <a:r>
              <a:rPr lang="de-DE" sz="1600"/>
              <a:t> </a:t>
            </a:r>
            <a:r>
              <a:rPr lang="de-DE" sz="1600" err="1"/>
              <a:t>pipeline</a:t>
            </a:r>
            <a:r>
              <a:rPr lang="de-DE" sz="1600"/>
              <a:t> </a:t>
            </a:r>
            <a:r>
              <a:rPr lang="de-DE" sz="1600" err="1"/>
              <a:t>package</a:t>
            </a:r>
            <a:r>
              <a:rPr lang="de-DE" sz="1600"/>
              <a:t>: </a:t>
            </a:r>
            <a:r>
              <a:rPr lang="de-DE" sz="1600">
                <a:ea typeface="+mn-lt"/>
                <a:cs typeface="+mn-lt"/>
                <a:hlinkClick r:id="rId5"/>
              </a:rPr>
              <a:t>https://github.com/sappelhoff/pyprep</a:t>
            </a:r>
            <a:r>
              <a:rPr lang="de-DE" sz="1600">
                <a:ea typeface="+mn-lt"/>
                <a:cs typeface="+mn-lt"/>
              </a:rPr>
              <a:t>, </a:t>
            </a:r>
            <a:r>
              <a:rPr lang="de-DE" sz="1600">
                <a:ea typeface="+mn-lt"/>
                <a:cs typeface="+mn-lt"/>
                <a:hlinkClick r:id="rId6"/>
              </a:rPr>
              <a:t>https://zenodo.org/records/18788268</a:t>
            </a:r>
            <a:r>
              <a:rPr lang="de-DE" sz="1600">
                <a:ea typeface="+mn-lt"/>
                <a:cs typeface="+mn-lt"/>
              </a:rPr>
              <a:t> (</a:t>
            </a:r>
            <a:r>
              <a:rPr lang="de-DE" sz="1600" err="1">
                <a:ea typeface="+mn-lt"/>
                <a:cs typeface="+mn-lt"/>
              </a:rPr>
              <a:t>python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implementation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>
                <a:ea typeface="+mn-lt"/>
                <a:cs typeface="+mn-lt"/>
              </a:rPr>
              <a:t> PREP </a:t>
            </a:r>
            <a:r>
              <a:rPr lang="de-DE" sz="1600" err="1">
                <a:ea typeface="+mn-lt"/>
                <a:cs typeface="+mn-lt"/>
              </a:rPr>
              <a:t>pipeline</a:t>
            </a:r>
            <a:r>
              <a:rPr lang="de-DE" sz="1600">
                <a:ea typeface="+mn-lt"/>
                <a:cs typeface="+mn-lt"/>
              </a:rPr>
              <a:t>)</a:t>
            </a:r>
          </a:p>
          <a:p>
            <a:r>
              <a:rPr lang="de-DE" sz="1600">
                <a:ea typeface="+mn-lt"/>
                <a:cs typeface="+mn-lt"/>
              </a:rPr>
              <a:t>MNE </a:t>
            </a:r>
            <a:r>
              <a:rPr lang="de-DE" sz="1600" err="1">
                <a:ea typeface="+mn-lt"/>
                <a:cs typeface="+mn-lt"/>
              </a:rPr>
              <a:t>opensource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python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framework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for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analysing</a:t>
            </a:r>
            <a:r>
              <a:rPr lang="de-DE" sz="1600">
                <a:ea typeface="+mn-lt"/>
                <a:cs typeface="+mn-lt"/>
              </a:rPr>
              <a:t> EEG </a:t>
            </a:r>
            <a:r>
              <a:rPr lang="de-DE" sz="1600" err="1">
                <a:ea typeface="+mn-lt"/>
                <a:cs typeface="+mn-lt"/>
              </a:rPr>
              <a:t>data</a:t>
            </a:r>
            <a:r>
              <a:rPr lang="de-DE" sz="1600">
                <a:ea typeface="+mn-lt"/>
                <a:cs typeface="+mn-lt"/>
              </a:rPr>
              <a:t>: </a:t>
            </a:r>
            <a:r>
              <a:rPr lang="de-DE" sz="1600">
                <a:ea typeface="+mn-lt"/>
                <a:cs typeface="+mn-lt"/>
                <a:hlinkClick r:id="rId7"/>
              </a:rPr>
              <a:t>https://mne.tools/stable/index.html</a:t>
            </a:r>
            <a:r>
              <a:rPr lang="de-DE" sz="1600">
                <a:ea typeface="+mn-lt"/>
                <a:cs typeface="+mn-lt"/>
              </a:rPr>
              <a:t>, </a:t>
            </a:r>
            <a:r>
              <a:rPr lang="de-DE" sz="1600">
                <a:ea typeface="+mn-lt"/>
                <a:cs typeface="+mn-lt"/>
                <a:hlinkClick r:id="rId8"/>
              </a:rPr>
              <a:t>https://mne.tools/stable/auto_tutorials/intro/10_overview.html</a:t>
            </a:r>
          </a:p>
          <a:p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EEG-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Pype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: An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accessible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MNE-Python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pipeline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with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graphical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user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interface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for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preprocessing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and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analysis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of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resting-state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electroencephalography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400" err="1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data</a:t>
            </a:r>
            <a:r>
              <a:rPr lang="de-DE" sz="1400">
                <a:solidFill>
                  <a:srgbClr val="151515"/>
                </a:solidFill>
                <a:highlight>
                  <a:srgbClr val="F2F2F2"/>
                </a:highlight>
                <a:latin typeface="Helvetica Neue"/>
              </a:rPr>
              <a:t>: </a:t>
            </a:r>
            <a:r>
              <a:rPr lang="de-DE" sz="105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  <a:hlinkClick r:id="rId9"/>
              </a:rPr>
              <a:t>https://pmc.ncbi.nlm.nih.gov/articles/PMC12970966/</a:t>
            </a:r>
            <a:r>
              <a:rPr lang="de-DE" sz="1050">
                <a:highlight>
                  <a:srgbClr val="F2F2F2"/>
                </a:highlight>
                <a:latin typeface="Helvetica Neue"/>
              </a:rPr>
              <a:t>, </a:t>
            </a:r>
            <a:r>
              <a:rPr lang="de-DE" sz="105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  <a:hlinkClick r:id="rId10"/>
              </a:rPr>
              <a:t>https://github.com/yorbenlodema/EEG-Pype</a:t>
            </a:r>
            <a:endParaRPr lang="en-US"/>
          </a:p>
          <a:p>
            <a:r>
              <a:rPr lang="de-DE" sz="14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Basically</a:t>
            </a:r>
            <a:r>
              <a:rPr lang="de-DE" sz="14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4 </a:t>
            </a:r>
            <a:r>
              <a:rPr lang="de-DE" sz="14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pipeline</a:t>
            </a:r>
            <a:r>
              <a:rPr lang="de-DE" sz="14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Optionen: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EEGLAB (MATLAB basiert) -&gt;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EEGprep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als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python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replika</a:t>
            </a:r>
            <a:endParaRPr lang="de-DE" sz="1200">
              <a:solidFill>
                <a:srgbClr val="386573"/>
              </a:solidFill>
              <a:highlight>
                <a:srgbClr val="F2F2F2"/>
              </a:highlight>
              <a:latin typeface="Helvetica Neu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PREP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pipeline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-&gt;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PyPREP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als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python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package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dafür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MNE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python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framework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 (sieht sehr vielversprechend aus)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EEG-</a:t>
            </a:r>
            <a:r>
              <a:rPr lang="de-DE" sz="1200" err="1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Pype</a:t>
            </a:r>
            <a:r>
              <a:rPr lang="de-DE" sz="1200">
                <a:solidFill>
                  <a:srgbClr val="386573"/>
                </a:solidFill>
                <a:highlight>
                  <a:srgbClr val="F2F2F2"/>
                </a:highlight>
                <a:latin typeface="Helvetica Neue"/>
              </a:rPr>
              <a:t>: Auch MNE basiert mit GUI und sowas </a:t>
            </a:r>
          </a:p>
          <a:p>
            <a:endParaRPr lang="de-DE" sz="1600"/>
          </a:p>
          <a:p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395825016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22</Slides>
  <Notes>0</Notes>
  <HiddenSlides>9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3" baseType="lpstr">
      <vt:lpstr>Larissa</vt:lpstr>
      <vt:lpstr>PowerPoint-Präsentation</vt:lpstr>
      <vt:lpstr>Gliederung</vt:lpstr>
      <vt:lpstr>Was ist ein EEG? </vt:lpstr>
      <vt:lpstr>Gehirnwellen</vt:lpstr>
      <vt:lpstr>PowerPoint-Präsentation</vt:lpstr>
      <vt:lpstr>PowerPoint-Präsentation</vt:lpstr>
      <vt:lpstr>Emotiv Flex 2 Saline  </vt:lpstr>
      <vt:lpstr>Emotive Flex 2 Saline</vt:lpstr>
      <vt:lpstr>EmotivPRO</vt:lpstr>
      <vt:lpstr>MNE Python als Basis der EEG Pipeline</vt:lpstr>
      <vt:lpstr>Datasets</vt:lpstr>
      <vt:lpstr>PowerPoint-Präsentation</vt:lpstr>
      <vt:lpstr>Current Challenges in EEG</vt:lpstr>
      <vt:lpstr>Proposed Solutions</vt:lpstr>
      <vt:lpstr>Recent Solution: EEG-X</vt:lpstr>
      <vt:lpstr>Possible Experiments</vt:lpstr>
      <vt:lpstr>Possible Experiments</vt:lpstr>
      <vt:lpstr>Possible Experiments</vt:lpstr>
      <vt:lpstr>Evaluation</vt:lpstr>
      <vt:lpstr>Quellen</vt:lpstr>
      <vt:lpstr>Dataset Findings</vt:lpstr>
      <vt:lpstr>Preprocessing Pipeline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2026-05-12T12:47:58Z</dcterms:created>
  <dcterms:modified xsi:type="dcterms:W3CDTF">2026-09-30T10:59:03Z</dcterms:modified>
</cp:coreProperties>
</file>